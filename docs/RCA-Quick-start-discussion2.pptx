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ymansrinivasan/air-gapped-rca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-Gapped RCA&#10;for ATE Failures">
            <a:extLst>
              <a:ext uri="{FF2B5EF4-FFF2-40B4-BE49-F238E27FC236}">
                <a16:creationId xmlns:a16="http://schemas.microsoft.com/office/drawing/2014/main" id="{994A8184-9A53-4411-82F5-1B945F05B5F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477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Air-Gapped RCA</a:t>
            </a:r>
          </a:p>
          <a:p>
            <a:pPr algn="l">
              <a:defRPr sz="48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for ATE Failures</a:t>
            </a:r>
          </a:p>
        </p:txBody>
      </p:sp>
      <p:sp>
        <p:nvSpPr>
          <p:cNvPr id="2" name="Project scope and evidence review">
            <a:extLst>
              <a:ext uri="{FF2B5EF4-FFF2-40B4-BE49-F238E27FC236}">
                <a16:creationId xmlns:a16="http://schemas.microsoft.com/office/drawing/2014/main" id="{DFAC08E4-8D2D-4EAB-8D5C-61170A11E316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66B3"/>
                </a:solidFill>
                <a:latin typeface="Arial"/>
                <a:ea typeface="Arial"/>
                <a:cs typeface="Arial"/>
              </a:rPr>
              <a:t>Project scope and evidence review</a:t>
            </a:r>
          </a:p>
        </p:txBody>
      </p:sp>
      <p:sp>
        <p:nvSpPr>
          <p:cNvPr id="3" name="Kayman Srinivasan&#10;Project Intern, UST">
            <a:extLst>
              <a:ext uri="{FF2B5EF4-FFF2-40B4-BE49-F238E27FC236}">
                <a16:creationId xmlns:a16="http://schemas.microsoft.com/office/drawing/2014/main" id="{5F035492-70A6-402C-BBE2-7B6FC638418C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8354A"/>
                </a:solidFill>
                <a:latin typeface="Arial"/>
                <a:ea typeface="Arial"/>
                <a:cs typeface="Arial"/>
              </a:rPr>
              <a:t>Kayman</a:t>
            </a:r>
            <a:r>
              <a:rPr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 Srinivasan</a:t>
            </a:r>
            <a:r>
              <a:rPr lang="en-US"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 Arumugam</a:t>
            </a:r>
            <a:endParaRPr sz="1950" b="0" dirty="0">
              <a:solidFill>
                <a:srgbClr val="18354A"/>
              </a:solidFill>
              <a:latin typeface="Arial"/>
              <a:ea typeface="Arial"/>
              <a:cs typeface="Arial"/>
            </a:endParaRP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lang="en-US"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AI &amp; Applied Science Intern</a:t>
            </a:r>
            <a:r>
              <a:rPr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, UST</a:t>
            </a:r>
            <a:r>
              <a:rPr lang="en-US"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 Malaysia</a:t>
            </a:r>
            <a:endParaRPr sz="1950" b="0" dirty="0">
              <a:solidFill>
                <a:srgbClr val="1835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Picture 5" descr="A black background with letters&#10;&#10;Description automatically generated">
            <a:extLst>
              <a:ext uri="{FF2B5EF4-FFF2-40B4-BE49-F238E27FC236}">
                <a16:creationId xmlns:a16="http://schemas.microsoft.com/office/drawing/2014/main" id="{FD415B5C-6010-4015-BD28-5C872A5E9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300" y="285750"/>
            <a:ext cx="757517" cy="83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1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nection to Our Previous ATE Discussion">
            <a:extLst>
              <a:ext uri="{FF2B5EF4-FFF2-40B4-BE49-F238E27FC236}">
                <a16:creationId xmlns:a16="http://schemas.microsoft.com/office/drawing/2014/main" id="{4978DA3B-944C-4EA0-B015-918F35F0E39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Connection to Our Previous ATE Discussion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E2FF73CF-C611-4A2B-9AF9-51573B64E78C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EVIOUS DISCUSSION">
            <a:extLst>
              <a:ext uri="{FF2B5EF4-FFF2-40B4-BE49-F238E27FC236}">
                <a16:creationId xmlns:a16="http://schemas.microsoft.com/office/drawing/2014/main" id="{56D4D653-6D96-4687-BA9D-A3813070A2E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PREVIOUS DISCUSSION</a:t>
            </a:r>
          </a:p>
        </p:txBody>
      </p:sp>
      <p:sp>
        <p:nvSpPr>
          <p:cNvPr id="4" name="ATE applies tests and records whether a device meets specified li">
            <a:extLst>
              <a:ext uri="{FF2B5EF4-FFF2-40B4-BE49-F238E27FC236}">
                <a16:creationId xmlns:a16="http://schemas.microsoft.com/office/drawing/2014/main" id="{89B3861A-2E47-4A81-9CF0-1979309F6030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50958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32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ATE applies </a:t>
            </a:r>
            <a:r>
              <a:rPr lang="en-US" sz="2325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basic, </a:t>
            </a:r>
            <a:r>
              <a:rPr sz="232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tests and records whether a device meets specified limits.</a:t>
            </a:r>
          </a:p>
        </p:txBody>
      </p:sp>
      <p:sp>
        <p:nvSpPr>
          <p:cNvPr id="5" name="THIS PROJECT">
            <a:extLst>
              <a:ext uri="{FF2B5EF4-FFF2-40B4-BE49-F238E27FC236}">
                <a16:creationId xmlns:a16="http://schemas.microsoft.com/office/drawing/2014/main" id="{47B0F3F4-D263-4A83-8644-EA45118AFE93}"/>
              </a:ext>
            </a:extLst>
          </p:cNvPr>
          <p:cNvSpPr>
            <a:spLocks noGrp="1"/>
          </p:cNvSpPr>
          <p:nvPr/>
        </p:nvSpPr>
        <p:spPr>
          <a:xfrm>
            <a:off x="6524625" y="15240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THIS PROJECT</a:t>
            </a:r>
          </a:p>
        </p:txBody>
      </p:sp>
      <p:sp>
        <p:nvSpPr>
          <p:cNvPr id="6" name="After a failure, compare the evidence and decide what to investig">
            <a:extLst>
              <a:ext uri="{FF2B5EF4-FFF2-40B4-BE49-F238E27FC236}">
                <a16:creationId xmlns:a16="http://schemas.microsoft.com/office/drawing/2014/main" id="{86180204-9E26-42B5-981E-6774B7ACE044}"/>
              </a:ext>
            </a:extLst>
          </p:cNvPr>
          <p:cNvSpPr>
            <a:spLocks noGrp="1"/>
          </p:cNvSpPr>
          <p:nvPr/>
        </p:nvSpPr>
        <p:spPr>
          <a:xfrm>
            <a:off x="6524625" y="1990725"/>
            <a:ext cx="5048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After a failure, compare the evidence and decide what to investigate next.</a:t>
            </a:r>
          </a:p>
        </p:txBody>
      </p:sp>
      <p:sp>
        <p:nvSpPr>
          <p:cNvPr id="7" name="Recorded test result">
            <a:extLst>
              <a:ext uri="{FF2B5EF4-FFF2-40B4-BE49-F238E27FC236}">
                <a16:creationId xmlns:a16="http://schemas.microsoft.com/office/drawing/2014/main" id="{EFE3B55F-04BF-487F-87A7-CF711A32855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048000" cy="10001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Recorded test result</a:t>
            </a:r>
          </a:p>
        </p:txBody>
      </p:sp>
      <p:sp>
        <p:nvSpPr>
          <p:cNvPr id="8" name="Investigation evidence">
            <a:extLst>
              <a:ext uri="{FF2B5EF4-FFF2-40B4-BE49-F238E27FC236}">
                <a16:creationId xmlns:a16="http://schemas.microsoft.com/office/drawing/2014/main" id="{D2E1B3AF-C050-4E0B-B13B-F8A01C3A2ACA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3048000" cy="10001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Investigation evidence</a:t>
            </a:r>
          </a:p>
        </p:txBody>
      </p:sp>
      <p:sp>
        <p:nvSpPr>
          <p:cNvPr id="9" name="Engineer decision">
            <a:extLst>
              <a:ext uri="{FF2B5EF4-FFF2-40B4-BE49-F238E27FC236}">
                <a16:creationId xmlns:a16="http://schemas.microsoft.com/office/drawing/2014/main" id="{BC4C25E0-EA67-45CB-973A-6EB7E158E48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3048000" cy="10001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Engineer decision</a:t>
            </a:r>
          </a:p>
        </p:txBody>
      </p:sp>
      <p:cxnSp>
        <p:nvCxnSpPr>
          <p:cNvPr id="21" name="Straight Arrow Connector 20"/>
          <p:cNvCxnSpPr>
            <a:stCxn id="7" idx="3"/>
            <a:endCxn id="8" idx="1"/>
          </p:cNvCxnSpPr>
          <p:nvPr/>
        </p:nvCxnSpPr>
        <p:spPr>
          <a:xfrm>
            <a:off x="3810000" y="4595813"/>
            <a:ext cx="762000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22" name="Straight Arrow Connector 21"/>
          <p:cNvCxnSpPr>
            <a:stCxn id="8" idx="3"/>
            <a:endCxn id="9" idx="1"/>
          </p:cNvCxnSpPr>
          <p:nvPr/>
        </p:nvCxnSpPr>
        <p:spPr>
          <a:xfrm>
            <a:off x="7620000" y="4595813"/>
            <a:ext cx="762000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83688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blem Statement">
            <a:extLst>
              <a:ext uri="{FF2B5EF4-FFF2-40B4-BE49-F238E27FC236}">
                <a16:creationId xmlns:a16="http://schemas.microsoft.com/office/drawing/2014/main" id="{BEF2A0A2-29AB-42D2-B3D4-FF25739189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983774C3-8F53-4FB6-8583-59BAC1311104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A failed test identifies an observed problem.&#10;A supported cause n">
            <a:extLst>
              <a:ext uri="{FF2B5EF4-FFF2-40B4-BE49-F238E27FC236}">
                <a16:creationId xmlns:a16="http://schemas.microsoft.com/office/drawing/2014/main" id="{66BAA472-7B66-4C4F-A053-EFCA4A3B9FB3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53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925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A failed test identifies an observed problem.</a:t>
            </a:r>
          </a:p>
          <a:p>
            <a:pPr algn="l">
              <a:defRPr sz="2925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A supported cause needs additional evidence.</a:t>
            </a:r>
          </a:p>
        </p:txBody>
      </p:sp>
      <p:sp>
        <p:nvSpPr>
          <p:cNvPr id="4" name="PROPOSED ASSISTANT">
            <a:extLst>
              <a:ext uri="{FF2B5EF4-FFF2-40B4-BE49-F238E27FC236}">
                <a16:creationId xmlns:a16="http://schemas.microsoft.com/office/drawing/2014/main" id="{D5226479-41D0-4B6E-8AAC-92203747C709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PROPOSED ASSISTANT</a:t>
            </a:r>
          </a:p>
        </p:txBody>
      </p:sp>
      <p:sp>
        <p:nvSpPr>
          <p:cNvPr id="5" name="Compare a new ATE failure with relevant historical failures, inve">
            <a:extLst>
              <a:ext uri="{FF2B5EF4-FFF2-40B4-BE49-F238E27FC236}">
                <a16:creationId xmlns:a16="http://schemas.microsoft.com/office/drawing/2014/main" id="{89056D85-5141-4BE6-9D75-7715627BFC0B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Compare a new ATE failure with relevant historical failures, investigations, actions and outcomes.</a:t>
            </a:r>
          </a:p>
        </p:txBody>
      </p:sp>
      <p:sp>
        <p:nvSpPr>
          <p:cNvPr id="6" name="Suggest possible causes and useful next checks, with the evidence">
            <a:extLst>
              <a:ext uri="{FF2B5EF4-FFF2-40B4-BE49-F238E27FC236}">
                <a16:creationId xmlns:a16="http://schemas.microsoft.com/office/drawing/2014/main" id="{02FAA879-6504-423B-9CE5-8F63C38DFA1F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Suggest possible causes and useful next checks, with the evidence behind each suggestion.</a:t>
            </a:r>
          </a:p>
        </p:txBody>
      </p:sp>
    </p:spTree>
    <p:extLst>
      <p:ext uri="{BB962C8B-B14F-4D97-AF65-F5344CB8AC3E}">
        <p14:creationId xmlns:p14="http://schemas.microsoft.com/office/powerpoint/2010/main" val="116424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ject Scope">
            <a:extLst>
              <a:ext uri="{FF2B5EF4-FFF2-40B4-BE49-F238E27FC236}">
                <a16:creationId xmlns:a16="http://schemas.microsoft.com/office/drawing/2014/main" id="{6F8D8F08-6071-4AF1-8E0A-DC08BC631E6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008A0310-9019-4421-B11B-7AFBBCCBD596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he engineer interprets the evidence and decides what action to t">
            <a:extLst>
              <a:ext uri="{FF2B5EF4-FFF2-40B4-BE49-F238E27FC236}">
                <a16:creationId xmlns:a16="http://schemas.microsoft.com/office/drawing/2014/main" id="{17538637-E22F-44EA-BEC5-8B20C897B69B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INPUTS">
            <a:extLst>
              <a:ext uri="{FF2B5EF4-FFF2-40B4-BE49-F238E27FC236}">
                <a16:creationId xmlns:a16="http://schemas.microsoft.com/office/drawing/2014/main" id="{97FD92E2-2671-4DD4-B157-B939E2DEB96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5" name="Local test results&#10;Associated case histories&#10;Current failure and ">
            <a:extLst>
              <a:ext uri="{FF2B5EF4-FFF2-40B4-BE49-F238E27FC236}">
                <a16:creationId xmlns:a16="http://schemas.microsoft.com/office/drawing/2014/main" id="{E7A65494-CADD-4BFE-9443-49920022DEFF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48577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Local test results</a:t>
            </a:r>
          </a:p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Associated case histories</a:t>
            </a:r>
          </a:p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Current failure and question</a:t>
            </a:r>
          </a:p>
        </p:txBody>
      </p:sp>
      <p:sp>
        <p:nvSpPr>
          <p:cNvPr id="6" name="OUTPUTS">
            <a:extLst>
              <a:ext uri="{FF2B5EF4-FFF2-40B4-BE49-F238E27FC236}">
                <a16:creationId xmlns:a16="http://schemas.microsoft.com/office/drawing/2014/main" id="{9BE6DB52-8372-4B39-95EA-B5EB3E1B3B09}"/>
              </a:ext>
            </a:extLst>
          </p:cNvPr>
          <p:cNvSpPr>
            <a:spLocks noGrp="1"/>
          </p:cNvSpPr>
          <p:nvPr/>
        </p:nvSpPr>
        <p:spPr>
          <a:xfrm>
            <a:off x="6477000" y="15716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7" name="Possible causes and next checks&#10;Citations and missing evidence&#10;A ">
            <a:extLst>
              <a:ext uri="{FF2B5EF4-FFF2-40B4-BE49-F238E27FC236}">
                <a16:creationId xmlns:a16="http://schemas.microsoft.com/office/drawing/2014/main" id="{BD423156-9277-4263-A521-999E9BCE6C5A}"/>
              </a:ext>
            </a:extLst>
          </p:cNvPr>
          <p:cNvSpPr>
            <a:spLocks noGrp="1"/>
          </p:cNvSpPr>
          <p:nvPr/>
        </p:nvSpPr>
        <p:spPr>
          <a:xfrm>
            <a:off x="6477000" y="2019300"/>
            <a:ext cx="50006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Possible causes and next checks</a:t>
            </a:r>
          </a:p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Citations and missing evidence</a:t>
            </a:r>
          </a:p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 qualified answer or refusal</a:t>
            </a:r>
          </a:p>
        </p:txBody>
      </p:sp>
      <p:sp>
        <p:nvSpPr>
          <p:cNvPr id="8" name="SYSTEM RESPONSIBILITY">
            <a:extLst>
              <a:ext uri="{FF2B5EF4-FFF2-40B4-BE49-F238E27FC236}">
                <a16:creationId xmlns:a16="http://schemas.microsoft.com/office/drawing/2014/main" id="{E1BECB11-3DEC-4AB9-96A9-54C5613191D3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SYSTEM RESPONSIBILITY</a:t>
            </a:r>
          </a:p>
        </p:txBody>
      </p:sp>
      <p:sp>
        <p:nvSpPr>
          <p:cNvPr id="9" name="Preserve evidence and identities.&#10;Search locally and check citati">
            <a:extLst>
              <a:ext uri="{FF2B5EF4-FFF2-40B4-BE49-F238E27FC236}">
                <a16:creationId xmlns:a16="http://schemas.microsoft.com/office/drawing/2014/main" id="{B6AFDC2E-FF18-4BC4-9860-B3956266C66E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4857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Preserve evidence and identities.</a:t>
            </a:r>
          </a:p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Search locally and check citations.</a:t>
            </a:r>
          </a:p>
        </p:txBody>
      </p:sp>
      <p:sp>
        <p:nvSpPr>
          <p:cNvPr id="10" name="CURRENT BOUNDARIES">
            <a:extLst>
              <a:ext uri="{FF2B5EF4-FFF2-40B4-BE49-F238E27FC236}">
                <a16:creationId xmlns:a16="http://schemas.microsoft.com/office/drawing/2014/main" id="{A335E8DA-FAE7-498A-8DB4-0EF8826FC58C}"/>
              </a:ext>
            </a:extLst>
          </p:cNvPr>
          <p:cNvSpPr>
            <a:spLocks noGrp="1"/>
          </p:cNvSpPr>
          <p:nvPr/>
        </p:nvSpPr>
        <p:spPr>
          <a:xfrm>
            <a:off x="6477000" y="37623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CURRENT BOUNDARIES</a:t>
            </a:r>
          </a:p>
        </p:txBody>
      </p:sp>
      <p:sp>
        <p:nvSpPr>
          <p:cNvPr id="11" name="No autonomous tester control or repair.&#10;No guaranteed physical di">
            <a:extLst>
              <a:ext uri="{FF2B5EF4-FFF2-40B4-BE49-F238E27FC236}">
                <a16:creationId xmlns:a16="http://schemas.microsoft.com/office/drawing/2014/main" id="{DDFCCF59-C3F3-4EF3-8DE2-A290FE17F7E3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5095875" cy="1362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No autonomous tester control or repair.</a:t>
            </a:r>
          </a:p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No guaranteed physical diagnosis.</a:t>
            </a:r>
          </a:p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Foundation-model training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6931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595 Dataset">
            <a:extLst>
              <a:ext uri="{FF2B5EF4-FFF2-40B4-BE49-F238E27FC236}">
                <a16:creationId xmlns:a16="http://schemas.microsoft.com/office/drawing/2014/main" id="{35F02CAF-C0DD-43E3-A49D-37FCA5D8A52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10375C"/>
                </a:solidFill>
                <a:latin typeface="Arial"/>
                <a:ea typeface="Arial"/>
                <a:cs typeface="Arial"/>
              </a:rPr>
              <a:t>A595 </a:t>
            </a:r>
            <a:r>
              <a:rPr lang="en-US" sz="3300" b="1" dirty="0">
                <a:solidFill>
                  <a:srgbClr val="10375C"/>
                </a:solidFill>
                <a:latin typeface="Arial"/>
                <a:ea typeface="Arial"/>
                <a:cs typeface="Arial"/>
              </a:rPr>
              <a:t>Synthetic logs</a:t>
            </a:r>
            <a:endParaRPr sz="3300" b="1" dirty="0">
              <a:solidFill>
                <a:srgbClr val="1037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7EF6285F-1CCB-439A-8159-9D18CB46C775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orded test outcomes are available. Genuine investigation, repa">
            <a:extLst>
              <a:ext uri="{FF2B5EF4-FFF2-40B4-BE49-F238E27FC236}">
                <a16:creationId xmlns:a16="http://schemas.microsoft.com/office/drawing/2014/main" id="{E9FCE09B-33B3-441E-90EC-6FC946261D3C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336">
            <a:extLst>
              <a:ext uri="{FF2B5EF4-FFF2-40B4-BE49-F238E27FC236}">
                <a16:creationId xmlns:a16="http://schemas.microsoft.com/office/drawing/2014/main" id="{BFE4E88B-C2F9-4627-96D1-3F0A9E956C68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3048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00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336</a:t>
            </a:r>
          </a:p>
        </p:txBody>
      </p:sp>
      <p:sp>
        <p:nvSpPr>
          <p:cNvPr id="5" name="tested devices">
            <a:extLst>
              <a:ext uri="{FF2B5EF4-FFF2-40B4-BE49-F238E27FC236}">
                <a16:creationId xmlns:a16="http://schemas.microsoft.com/office/drawing/2014/main" id="{19890645-5EC4-4482-8F0D-DA543C35D587}"/>
              </a:ext>
            </a:extLst>
          </p:cNvPr>
          <p:cNvSpPr>
            <a:spLocks noGrp="1"/>
          </p:cNvSpPr>
          <p:nvPr/>
        </p:nvSpPr>
        <p:spPr>
          <a:xfrm>
            <a:off x="657225" y="25717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tested devices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4286250" y="1571625"/>
          <a:ext cx="7191375" cy="2600324"/>
        </p:xfrm>
        <a:graphic>
          <a:graphicData uri="http://schemas.openxmlformats.org/drawingml/2006/table">
            <a:tbl>
              <a:tblPr/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08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Wafer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Tested devices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263 passed">
            <a:extLst>
              <a:ext uri="{FF2B5EF4-FFF2-40B4-BE49-F238E27FC236}">
                <a16:creationId xmlns:a16="http://schemas.microsoft.com/office/drawing/2014/main" id="{B4BAA3D3-A94A-4A64-85BD-28AEDDB49A86}"/>
              </a:ext>
            </a:extLst>
          </p:cNvPr>
          <p:cNvSpPr>
            <a:spLocks noGrp="1"/>
          </p:cNvSpPr>
          <p:nvPr/>
        </p:nvSpPr>
        <p:spPr>
          <a:xfrm>
            <a:off x="619125" y="3543300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261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151"/>
                </a:solidFill>
                <a:latin typeface="Arial"/>
                <a:ea typeface="Arial"/>
                <a:cs typeface="Arial"/>
              </a:rPr>
              <a:t>263 passed</a:t>
            </a:r>
          </a:p>
        </p:txBody>
      </p:sp>
      <p:sp>
        <p:nvSpPr>
          <p:cNvPr id="8" name="73 failed">
            <a:extLst>
              <a:ext uri="{FF2B5EF4-FFF2-40B4-BE49-F238E27FC236}">
                <a16:creationId xmlns:a16="http://schemas.microsoft.com/office/drawing/2014/main" id="{2CCD70AC-4B91-43ED-B29E-C82F5D1DAEC2}"/>
              </a:ext>
            </a:extLst>
          </p:cNvPr>
          <p:cNvSpPr>
            <a:spLocks noGrp="1"/>
          </p:cNvSpPr>
          <p:nvPr/>
        </p:nvSpPr>
        <p:spPr>
          <a:xfrm>
            <a:off x="619125" y="4133850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A6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63232"/>
                </a:solidFill>
                <a:latin typeface="Arial"/>
                <a:ea typeface="Arial"/>
                <a:cs typeface="Arial"/>
              </a:rPr>
              <a:t>73 failed</a:t>
            </a:r>
          </a:p>
        </p:txBody>
      </p:sp>
      <p:sp>
        <p:nvSpPr>
          <p:cNvPr id="9" name="TWO MATCHING SOURCE FILES">
            <a:extLst>
              <a:ext uri="{FF2B5EF4-FFF2-40B4-BE49-F238E27FC236}">
                <a16:creationId xmlns:a16="http://schemas.microsoft.com/office/drawing/2014/main" id="{1BF2CC51-B539-4694-8C03-7BE4061C6EB1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66B3"/>
                </a:solidFill>
                <a:latin typeface="Arial"/>
                <a:ea typeface="Arial"/>
                <a:cs typeface="Arial"/>
              </a:rPr>
              <a:t>TWO</a:t>
            </a:r>
            <a:r>
              <a:rPr lang="en-US" sz="1575" b="1" dirty="0">
                <a:solidFill>
                  <a:srgbClr val="0066B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>
                <a:solidFill>
                  <a:srgbClr val="0066B3"/>
                </a:solidFill>
                <a:latin typeface="Arial"/>
                <a:ea typeface="Arial"/>
                <a:cs typeface="Arial"/>
              </a:rPr>
              <a:t>SOURCE FILES</a:t>
            </a:r>
          </a:p>
        </p:txBody>
      </p:sp>
      <p:sp>
        <p:nvSpPr>
          <p:cNvPr id="10" name="STDF: structured binary test data&#10;Readable tester log: results wi">
            <a:extLst>
              <a:ext uri="{FF2B5EF4-FFF2-40B4-BE49-F238E27FC236}">
                <a16:creationId xmlns:a16="http://schemas.microsoft.com/office/drawing/2014/main" id="{247BC3CB-4C08-4C47-BA90-688DED7B673F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668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STDF: </a:t>
            </a:r>
            <a:r>
              <a:rPr lang="en-US" sz="187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structured binary test data</a:t>
            </a:r>
          </a:p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Readable tester log: results with citable lines</a:t>
            </a:r>
          </a:p>
        </p:txBody>
      </p:sp>
    </p:spTree>
    <p:extLst>
      <p:ext uri="{BB962C8B-B14F-4D97-AF65-F5344CB8AC3E}">
        <p14:creationId xmlns:p14="http://schemas.microsoft.com/office/powerpoint/2010/main" val="46624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istorical Case Construction">
            <a:extLst>
              <a:ext uri="{FF2B5EF4-FFF2-40B4-BE49-F238E27FC236}">
                <a16:creationId xmlns:a16="http://schemas.microsoft.com/office/drawing/2014/main" id="{B1D5893A-9EE7-493B-87E7-8C902C354B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Historical Case Construction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8E6DE129-1083-43C9-AFC0-4846836B92EE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Investigation, action and retest events are synthetic. Engineer r">
            <a:extLst>
              <a:ext uri="{FF2B5EF4-FFF2-40B4-BE49-F238E27FC236}">
                <a16:creationId xmlns:a16="http://schemas.microsoft.com/office/drawing/2014/main" id="{F2B5EFBE-CCBE-4DD2-B652-E73314B3F462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Investigation, action and retest events are synthetic.</a:t>
            </a:r>
          </a:p>
        </p:txBody>
      </p:sp>
      <p:sp>
        <p:nvSpPr>
          <p:cNvPr id="4" name="Observed failure&#10;Recorded A595 result">
            <a:extLst>
              <a:ext uri="{FF2B5EF4-FFF2-40B4-BE49-F238E27FC236}">
                <a16:creationId xmlns:a16="http://schemas.microsoft.com/office/drawing/2014/main" id="{3AC5D27C-B8D9-4179-B8CF-540765B76A6E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533650" cy="147637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95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Observed failure</a:t>
            </a:r>
          </a:p>
          <a:p>
            <a:pPr algn="ctr">
              <a:defRPr sz="195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Recorded A595 result</a:t>
            </a:r>
          </a:p>
        </p:txBody>
      </p:sp>
      <p:sp>
        <p:nvSpPr>
          <p:cNvPr id="5" name="Investigation&#10;Invented checks">
            <a:extLst>
              <a:ext uri="{FF2B5EF4-FFF2-40B4-BE49-F238E27FC236}">
                <a16:creationId xmlns:a16="http://schemas.microsoft.com/office/drawing/2014/main" id="{C193B5F7-12DB-4A22-A7DA-CE7CE44B7A16}"/>
              </a:ext>
            </a:extLst>
          </p:cNvPr>
          <p:cNvSpPr>
            <a:spLocks noGrp="1"/>
          </p:cNvSpPr>
          <p:nvPr/>
        </p:nvSpPr>
        <p:spPr>
          <a:xfrm>
            <a:off x="3429000" y="1905000"/>
            <a:ext cx="2533650" cy="1476375"/>
          </a:xfrm>
          <a:prstGeom prst="rect">
            <a:avLst/>
          </a:prstGeom>
          <a:solidFill>
            <a:srgbClr val="FFF4E4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950" b="0">
                <a:solidFill>
                  <a:srgbClr val="8752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75218"/>
                </a:solidFill>
                <a:latin typeface="Arial"/>
                <a:ea typeface="Arial"/>
                <a:cs typeface="Arial"/>
              </a:rPr>
              <a:t>Investigation</a:t>
            </a:r>
          </a:p>
          <a:p>
            <a:pPr algn="ctr">
              <a:defRPr sz="1950" b="0">
                <a:solidFill>
                  <a:srgbClr val="8752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75218"/>
                </a:solidFill>
                <a:latin typeface="Arial"/>
                <a:ea typeface="Arial"/>
                <a:cs typeface="Arial"/>
              </a:rPr>
              <a:t>Invented checks</a:t>
            </a:r>
          </a:p>
        </p:txBody>
      </p:sp>
      <p:sp>
        <p:nvSpPr>
          <p:cNvPr id="6" name="Action&#10;Invented intervention">
            <a:extLst>
              <a:ext uri="{FF2B5EF4-FFF2-40B4-BE49-F238E27FC236}">
                <a16:creationId xmlns:a16="http://schemas.microsoft.com/office/drawing/2014/main" id="{66C06B3F-77C8-407C-89E5-B35C03209B4D}"/>
              </a:ext>
            </a:extLst>
          </p:cNvPr>
          <p:cNvSpPr>
            <a:spLocks noGrp="1"/>
          </p:cNvSpPr>
          <p:nvPr/>
        </p:nvSpPr>
        <p:spPr>
          <a:xfrm>
            <a:off x="6248400" y="1905000"/>
            <a:ext cx="2533650" cy="1476375"/>
          </a:xfrm>
          <a:prstGeom prst="rect">
            <a:avLst/>
          </a:prstGeom>
          <a:solidFill>
            <a:srgbClr val="FFF4E4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950" b="0">
                <a:solidFill>
                  <a:srgbClr val="8752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75218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>
              <a:defRPr sz="1950" b="0">
                <a:solidFill>
                  <a:srgbClr val="8752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75218"/>
                </a:solidFill>
                <a:latin typeface="Arial"/>
                <a:ea typeface="Arial"/>
                <a:cs typeface="Arial"/>
              </a:rPr>
              <a:t>Invented intervention</a:t>
            </a:r>
          </a:p>
        </p:txBody>
      </p:sp>
      <p:sp>
        <p:nvSpPr>
          <p:cNvPr id="7" name="Retest&#10;Invented outcome">
            <a:extLst>
              <a:ext uri="{FF2B5EF4-FFF2-40B4-BE49-F238E27FC236}">
                <a16:creationId xmlns:a16="http://schemas.microsoft.com/office/drawing/2014/main" id="{481294F4-1DE4-41A6-ADF0-02FAEDE69EF5}"/>
              </a:ext>
            </a:extLst>
          </p:cNvPr>
          <p:cNvSpPr>
            <a:spLocks noGrp="1"/>
          </p:cNvSpPr>
          <p:nvPr/>
        </p:nvSpPr>
        <p:spPr>
          <a:xfrm>
            <a:off x="9067800" y="1905000"/>
            <a:ext cx="2533650" cy="1476375"/>
          </a:xfrm>
          <a:prstGeom prst="rect">
            <a:avLst/>
          </a:prstGeom>
          <a:solidFill>
            <a:srgbClr val="FFF4E4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950" b="0">
                <a:solidFill>
                  <a:srgbClr val="8752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75218"/>
                </a:solidFill>
                <a:latin typeface="Arial"/>
                <a:ea typeface="Arial"/>
                <a:cs typeface="Arial"/>
              </a:rPr>
              <a:t>Retest</a:t>
            </a:r>
          </a:p>
          <a:p>
            <a:pPr algn="ctr">
              <a:defRPr sz="1950" b="0">
                <a:solidFill>
                  <a:srgbClr val="8752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75218"/>
                </a:solidFill>
                <a:latin typeface="Arial"/>
                <a:ea typeface="Arial"/>
                <a:cs typeface="Arial"/>
              </a:rPr>
              <a:t>Invented outcome</a:t>
            </a:r>
          </a:p>
        </p:txBody>
      </p:sp>
      <p:cxnSp>
        <p:nvCxnSpPr>
          <p:cNvPr id="21" name="Straight Arrow Connector 20"/>
          <p:cNvCxnSpPr>
            <a:stCxn id="4" idx="3"/>
            <a:endCxn id="5" idx="1"/>
          </p:cNvCxnSpPr>
          <p:nvPr/>
        </p:nvCxnSpPr>
        <p:spPr>
          <a:xfrm>
            <a:off x="3143250" y="2643188"/>
            <a:ext cx="285750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22" name="Straight Arrow Connector 21"/>
          <p:cNvCxnSpPr>
            <a:stCxn id="5" idx="3"/>
            <a:endCxn id="6" idx="1"/>
          </p:cNvCxnSpPr>
          <p:nvPr/>
        </p:nvCxnSpPr>
        <p:spPr>
          <a:xfrm>
            <a:off x="5962650" y="2643188"/>
            <a:ext cx="285750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23" name="Straight Arrow Connector 22"/>
          <p:cNvCxnSpPr>
            <a:stCxn id="6" idx="3"/>
            <a:endCxn id="7" idx="1"/>
          </p:cNvCxnSpPr>
          <p:nvPr/>
        </p:nvCxnSpPr>
        <p:spPr>
          <a:xfrm>
            <a:off x="8782050" y="2643188"/>
            <a:ext cx="285750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sp>
        <p:nvSpPr>
          <p:cNvPr id="11" name="REAL OBSERVATION, FICTIONAL CASE HISTORY">
            <a:extLst>
              <a:ext uri="{FF2B5EF4-FFF2-40B4-BE49-F238E27FC236}">
                <a16:creationId xmlns:a16="http://schemas.microsoft.com/office/drawing/2014/main" id="{41CE49F4-1D77-4D42-9925-C1911C08879D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REAL OBSERVATION, FICTIONAL CASE HISTORY</a:t>
            </a:r>
          </a:p>
        </p:txBody>
      </p:sp>
      <p:sp>
        <p:nvSpPr>
          <p:cNvPr id="12" name="The source failure stays traceable. Its attachment to an invented">
            <a:extLst>
              <a:ext uri="{FF2B5EF4-FFF2-40B4-BE49-F238E27FC236}">
                <a16:creationId xmlns:a16="http://schemas.microsoft.com/office/drawing/2014/main" id="{86311FF4-588E-40D8-A32F-1FE90FAB4ED0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810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The source failure stays traceable. Its attachment to an invented incident and follow-up history is fictional.</a:t>
            </a:r>
          </a:p>
        </p:txBody>
      </p:sp>
      <p:sp>
        <p:nvSpPr>
          <p:cNvPr id="13" name="Some retest values reuse source records as templates. They are no">
            <a:extLst>
              <a:ext uri="{FF2B5EF4-FFF2-40B4-BE49-F238E27FC236}">
                <a16:creationId xmlns:a16="http://schemas.microsoft.com/office/drawing/2014/main" id="{3801FBA9-B6EA-4656-9B60-8A451A4FA5D6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Some retest values reuse source records as templates. They are not post-repair measurements of that case device.</a:t>
            </a:r>
          </a:p>
        </p:txBody>
      </p:sp>
    </p:spTree>
    <p:extLst>
      <p:ext uri="{BB962C8B-B14F-4D97-AF65-F5344CB8AC3E}">
        <p14:creationId xmlns:p14="http://schemas.microsoft.com/office/powerpoint/2010/main" val="25935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ix Historical Scenarios">
            <a:extLst>
              <a:ext uri="{FF2B5EF4-FFF2-40B4-BE49-F238E27FC236}">
                <a16:creationId xmlns:a16="http://schemas.microsoft.com/office/drawing/2014/main" id="{BA729A16-569F-4038-9E37-C3DCA1B7042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Six Historical Scenarios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F13EFC57-4BBE-4AEA-BC47-47B7010D19C8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ix synthetic scenarios come from five distinct original failures">
            <a:extLst>
              <a:ext uri="{FF2B5EF4-FFF2-40B4-BE49-F238E27FC236}">
                <a16:creationId xmlns:a16="http://schemas.microsoft.com/office/drawing/2014/main" id="{9EE1FCA9-2EFE-47B3-8A23-2DDAEFDBFEF8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Six synthetic scenarios come from five distinct original failures. Cases 001 and 002 share the same source failure.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09600" y="1476375"/>
          <a:ext cx="10953750" cy="4305300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Original source failure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Synthetic continuation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001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W02, device 80</a:t>
                      </a:r>
                    </a:p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Open/Short failure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Contact investigation and intervention, then recovery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002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Same failure as 001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Alternative investigation and no recovery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003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W02, device 41</a:t>
                      </a:r>
                    </a:p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Supply-current failure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Fixture investigation and correction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004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W02, device 11</a:t>
                      </a:r>
                    </a:p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High-delay failure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Test-configuration investigation and correction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005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W09, device 331</a:t>
                      </a:r>
                    </a:p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Scan failure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Repeated failure, cause unresolved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006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W03, device 198</a:t>
                      </a:r>
                    </a:p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Low-delay failure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Wrong-device PASS, then correctly linked FAIL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48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 006: A Retest from the Wrong Device">
            <a:extLst>
              <a:ext uri="{FF2B5EF4-FFF2-40B4-BE49-F238E27FC236}">
                <a16:creationId xmlns:a16="http://schemas.microsoft.com/office/drawing/2014/main" id="{19FECD88-4F93-49E2-8C11-92218BD1B83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Case 006: A Retest from the Wrong Device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F6882997-DCAC-4F0A-BDE7-AE7848586FA1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Both retests are simulated targeted checks. A targeted pass does ">
            <a:extLst>
              <a:ext uri="{FF2B5EF4-FFF2-40B4-BE49-F238E27FC236}">
                <a16:creationId xmlns:a16="http://schemas.microsoft.com/office/drawing/2014/main" id="{A865B16F-3982-4A5E-AF3F-60D11E811A23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Like placing another device’s test report&#10;in this device’s invest">
            <a:extLst>
              <a:ext uri="{FF2B5EF4-FFF2-40B4-BE49-F238E27FC236}">
                <a16:creationId xmlns:a16="http://schemas.microsoft.com/office/drawing/2014/main" id="{4DD04C29-76D5-4B01-9FDB-381CFF65DDD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061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Like placing another device’s test report</a:t>
            </a:r>
          </a:p>
          <a:p>
            <a:pPr algn="l">
              <a:defRPr sz="24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in this device’s investigation folder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09600" y="2543175"/>
          <a:ext cx="10953750" cy="26193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RETEST-1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RETEST-2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Recorded result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409.4 ns: PASS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389.8 ns: FAIL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Device identity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Another fictional device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Intended fictional device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Cannot establish recovery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Below the 390 ns lower limit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A matching “PASS” is insufficient. Preserve identity and comparab">
            <a:extLst>
              <a:ext uri="{FF2B5EF4-FFF2-40B4-BE49-F238E27FC236}">
                <a16:creationId xmlns:a16="http://schemas.microsoft.com/office/drawing/2014/main" id="{9DBEC0E4-9EE7-47C8-A7CD-B2655FBAF762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4A"/>
                </a:solidFill>
                <a:latin typeface="Arial"/>
                <a:ea typeface="Arial"/>
                <a:cs typeface="Arial"/>
              </a:rPr>
              <a:t>A matching “PASS” is insufficient. Preserve identity and comparable conditions.</a:t>
            </a:r>
          </a:p>
          <a:p>
            <a:pPr algn="l">
              <a:defRPr sz="1875" b="1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4A"/>
                </a:solidFill>
                <a:latin typeface="Arial"/>
                <a:ea typeface="Arial"/>
                <a:cs typeface="Arial"/>
              </a:rPr>
              <a:t>The cause remains unresolved.</a:t>
            </a:r>
          </a:p>
        </p:txBody>
      </p:sp>
    </p:spTree>
    <p:extLst>
      <p:ext uri="{BB962C8B-B14F-4D97-AF65-F5344CB8AC3E}">
        <p14:creationId xmlns:p14="http://schemas.microsoft.com/office/powerpoint/2010/main" val="1679087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 007: The Incoming Failure">
            <a:extLst>
              <a:ext uri="{FF2B5EF4-FFF2-40B4-BE49-F238E27FC236}">
                <a16:creationId xmlns:a16="http://schemas.microsoft.com/office/drawing/2014/main" id="{6AA2A377-3697-40E0-BC86-F33475CA6ED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Case 007: The Incoming Failure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BECAA434-F472-4559-AE71-04FC86E0890E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Entirely authored example. Case 007 is not another device extract">
            <a:extLst>
              <a:ext uri="{FF2B5EF4-FFF2-40B4-BE49-F238E27FC236}">
                <a16:creationId xmlns:a16="http://schemas.microsoft.com/office/drawing/2014/main" id="{959A5807-A4C5-4ED9-920A-3F33746E7037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Entirely authored example. Case 007 is not another device extracted from the original 73 failures.</a:t>
            </a:r>
          </a:p>
        </p:txBody>
      </p:sp>
      <p:sp>
        <p:nvSpPr>
          <p:cNvPr id="4" name="Test 100: Open/Short-&#10;AMSDSM, pin 40">
            <a:extLst>
              <a:ext uri="{FF2B5EF4-FFF2-40B4-BE49-F238E27FC236}">
                <a16:creationId xmlns:a16="http://schemas.microsoft.com/office/drawing/2014/main" id="{E1592CC9-901B-49FA-87C1-D2B59D5B5D2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6191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Test 100: Open/Short-</a:t>
            </a:r>
          </a:p>
          <a:p>
            <a:pPr algn="l">
              <a:defRPr sz="24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AMSDSM, pin 40</a:t>
            </a:r>
          </a:p>
        </p:txBody>
      </p:sp>
      <p:sp>
        <p:nvSpPr>
          <p:cNvPr id="5" name="Attempt 1&#10;FAIL">
            <a:extLst>
              <a:ext uri="{FF2B5EF4-FFF2-40B4-BE49-F238E27FC236}">
                <a16:creationId xmlns:a16="http://schemas.microsoft.com/office/drawing/2014/main" id="{EF8D51C3-86F1-4246-96D4-0D99B0C1E95E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2762250" cy="114300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325" b="0">
                <a:solidFill>
                  <a:srgbClr val="A632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63232"/>
                </a:solidFill>
                <a:latin typeface="Arial"/>
                <a:ea typeface="Arial"/>
                <a:cs typeface="Arial"/>
              </a:rPr>
              <a:t>Attempt 1</a:t>
            </a:r>
          </a:p>
          <a:p>
            <a:pPr algn="ctr">
              <a:defRPr sz="2325" b="0">
                <a:solidFill>
                  <a:srgbClr val="A632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63232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6" name="Attempt 2&#10;PASS">
            <a:extLst>
              <a:ext uri="{FF2B5EF4-FFF2-40B4-BE49-F238E27FC236}">
                <a16:creationId xmlns:a16="http://schemas.microsoft.com/office/drawing/2014/main" id="{A22311C9-7518-4C0A-AB61-6F7A30C9DFB7}"/>
              </a:ext>
            </a:extLst>
          </p:cNvPr>
          <p:cNvSpPr>
            <a:spLocks noGrp="1"/>
          </p:cNvSpPr>
          <p:nvPr/>
        </p:nvSpPr>
        <p:spPr>
          <a:xfrm>
            <a:off x="4714875" y="2714625"/>
            <a:ext cx="2762250" cy="114300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325" b="0">
                <a:solidFill>
                  <a:srgbClr val="12615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6151"/>
                </a:solidFill>
                <a:latin typeface="Arial"/>
                <a:ea typeface="Arial"/>
                <a:cs typeface="Arial"/>
              </a:rPr>
              <a:t>Attempt 2</a:t>
            </a:r>
          </a:p>
          <a:p>
            <a:pPr algn="ctr">
              <a:defRPr sz="2325" b="0">
                <a:solidFill>
                  <a:srgbClr val="12615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615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Attempt 3&#10;FAIL">
            <a:extLst>
              <a:ext uri="{FF2B5EF4-FFF2-40B4-BE49-F238E27FC236}">
                <a16:creationId xmlns:a16="http://schemas.microsoft.com/office/drawing/2014/main" id="{BD920CAF-FA5A-45D2-9053-B1CF3A481E6C}"/>
              </a:ext>
            </a:extLst>
          </p:cNvPr>
          <p:cNvSpPr>
            <a:spLocks noGrp="1"/>
          </p:cNvSpPr>
          <p:nvPr/>
        </p:nvSpPr>
        <p:spPr>
          <a:xfrm>
            <a:off x="8477250" y="2714625"/>
            <a:ext cx="2762250" cy="114300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325" b="0">
                <a:solidFill>
                  <a:srgbClr val="A632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63232"/>
                </a:solidFill>
                <a:latin typeface="Arial"/>
                <a:ea typeface="Arial"/>
                <a:cs typeface="Arial"/>
              </a:rPr>
              <a:t>Attempt 3</a:t>
            </a:r>
          </a:p>
          <a:p>
            <a:pPr algn="ctr">
              <a:defRPr sz="2325" b="0">
                <a:solidFill>
                  <a:srgbClr val="A632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63232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cxnSp>
        <p:nvCxnSpPr>
          <p:cNvPr id="19" name="Straight Arrow Connector 18"/>
          <p:cNvCxnSpPr>
            <a:stCxn id="5" idx="3"/>
            <a:endCxn id="6" idx="1"/>
          </p:cNvCxnSpPr>
          <p:nvPr/>
        </p:nvCxnSpPr>
        <p:spPr>
          <a:xfrm>
            <a:off x="3714750" y="3286125"/>
            <a:ext cx="1000125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20" name="Straight Arrow Connector 19"/>
          <p:cNvCxnSpPr>
            <a:stCxn id="6" idx="3"/>
            <a:endCxn id="7" idx="1"/>
          </p:cNvCxnSpPr>
          <p:nvPr/>
        </p:nvCxnSpPr>
        <p:spPr>
          <a:xfrm>
            <a:off x="7477125" y="3286125"/>
            <a:ext cx="1000125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sp>
        <p:nvSpPr>
          <p:cNvPr id="10" name="One fictional device. Three executions of one check.">
            <a:extLst>
              <a:ext uri="{FF2B5EF4-FFF2-40B4-BE49-F238E27FC236}">
                <a16:creationId xmlns:a16="http://schemas.microsoft.com/office/drawing/2014/main" id="{D016492F-C7D9-4424-8835-77B0723E77B7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One fictional device. Three executions of one check.</a:t>
            </a:r>
          </a:p>
        </p:txBody>
      </p:sp>
      <p:sp>
        <p:nvSpPr>
          <p:cNvPr id="11" name="No investigation, corrective action or assigned cause.&#10;Setup deta">
            <a:extLst>
              <a:ext uri="{FF2B5EF4-FFF2-40B4-BE49-F238E27FC236}">
                <a16:creationId xmlns:a16="http://schemas.microsoft.com/office/drawing/2014/main" id="{064D12A8-9636-46EA-9992-1562DFA40029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0287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No investigation, corrective action or assigned cause.</a:t>
            </a:r>
          </a:p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Setup details are incomplete. Historical compatibility is unknown.</a:t>
            </a:r>
          </a:p>
        </p:txBody>
      </p:sp>
    </p:spTree>
    <p:extLst>
      <p:ext uri="{BB962C8B-B14F-4D97-AF65-F5344CB8AC3E}">
        <p14:creationId xmlns:p14="http://schemas.microsoft.com/office/powerpoint/2010/main" val="81224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ight-Block Project Workflow">
            <a:extLst>
              <a:ext uri="{FF2B5EF4-FFF2-40B4-BE49-F238E27FC236}">
                <a16:creationId xmlns:a16="http://schemas.microsoft.com/office/drawing/2014/main" id="{C337F750-1075-4665-9521-FC6E573ED45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Eight-Block Project Workflow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1FAB51C5-CA80-42D1-8C79-4445703E8806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OFFLINE EXECUTION BOUNDARY">
            <a:extLst>
              <a:ext uri="{FF2B5EF4-FFF2-40B4-BE49-F238E27FC236}">
                <a16:creationId xmlns:a16="http://schemas.microsoft.com/office/drawing/2014/main" id="{3421636F-3167-4FD0-912A-DE33BF7C84CF}"/>
              </a:ext>
            </a:extLst>
          </p:cNvPr>
          <p:cNvSpPr>
            <a:spLocks noGrp="1"/>
          </p:cNvSpPr>
          <p:nvPr/>
        </p:nvSpPr>
        <p:spPr>
          <a:xfrm>
            <a:off x="666750" y="130492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OFFLINE EXECUTION BOUNDARY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7D127-3468-4362-9CFE-D3F1581A8F3C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11210925" cy="4333875"/>
          </a:xfrm>
          <a:prstGeom prst="rect">
            <a:avLst/>
          </a:prstGeom>
          <a:noFill/>
          <a:ln w="14288">
            <a:solidFill>
              <a:srgbClr val="CCDDEB"/>
            </a:solidFill>
            <a:prstDash val="dash"/>
          </a:ln>
        </p:spPr>
      </p:sp>
      <p:sp>
        <p:nvSpPr>
          <p:cNvPr id="5" name="1. Immutable logs">
            <a:extLst>
              <a:ext uri="{FF2B5EF4-FFF2-40B4-BE49-F238E27FC236}">
                <a16:creationId xmlns:a16="http://schemas.microsoft.com/office/drawing/2014/main" id="{2CDBFA9A-40A9-4249-9D14-1DD549D4757B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2333625" cy="83820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1. Immutable logs</a:t>
            </a:r>
          </a:p>
        </p:txBody>
      </p:sp>
      <p:sp>
        <p:nvSpPr>
          <p:cNvPr id="6" name="2. Chunks with&#10;source lines">
            <a:extLst>
              <a:ext uri="{FF2B5EF4-FFF2-40B4-BE49-F238E27FC236}">
                <a16:creationId xmlns:a16="http://schemas.microsoft.com/office/drawing/2014/main" id="{2F651E41-900B-487F-AF6F-AD2AE1CE711B}"/>
              </a:ext>
            </a:extLst>
          </p:cNvPr>
          <p:cNvSpPr>
            <a:spLocks noGrp="1"/>
          </p:cNvSpPr>
          <p:nvPr/>
        </p:nvSpPr>
        <p:spPr>
          <a:xfrm>
            <a:off x="3571875" y="2000250"/>
            <a:ext cx="2333625" cy="83820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2. Chunks with</a:t>
            </a:r>
          </a:p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source lines</a:t>
            </a:r>
          </a:p>
        </p:txBody>
      </p:sp>
      <p:sp>
        <p:nvSpPr>
          <p:cNvPr id="7" name="3. Local vector and&#10;keyword indexes">
            <a:extLst>
              <a:ext uri="{FF2B5EF4-FFF2-40B4-BE49-F238E27FC236}">
                <a16:creationId xmlns:a16="http://schemas.microsoft.com/office/drawing/2014/main" id="{B8A450C5-9AD4-47C6-BCEE-D5B6674C777E}"/>
              </a:ext>
            </a:extLst>
          </p:cNvPr>
          <p:cNvSpPr>
            <a:spLocks noGrp="1"/>
          </p:cNvSpPr>
          <p:nvPr/>
        </p:nvSpPr>
        <p:spPr>
          <a:xfrm>
            <a:off x="6429375" y="2000250"/>
            <a:ext cx="2333625" cy="83820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3. Local vector and</a:t>
            </a:r>
          </a:p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keyword indexes</a:t>
            </a:r>
          </a:p>
        </p:txBody>
      </p:sp>
      <p:sp>
        <p:nvSpPr>
          <p:cNvPr id="8" name="4. Engineer question">
            <a:extLst>
              <a:ext uri="{FF2B5EF4-FFF2-40B4-BE49-F238E27FC236}">
                <a16:creationId xmlns:a16="http://schemas.microsoft.com/office/drawing/2014/main" id="{F6301FB5-2A5A-49CA-897F-FD2D9EB99F57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3381375" cy="666750"/>
          </a:xfrm>
          <a:prstGeom prst="rect">
            <a:avLst/>
          </a:prstGeom>
          <a:solidFill>
            <a:srgbClr val="FFFFFF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4. Engineer question</a:t>
            </a:r>
          </a:p>
        </p:txBody>
      </p:sp>
      <p:sp>
        <p:nvSpPr>
          <p:cNvPr id="9" name="Separately prepared&#10;current-failure evidence">
            <a:extLst>
              <a:ext uri="{FF2B5EF4-FFF2-40B4-BE49-F238E27FC236}">
                <a16:creationId xmlns:a16="http://schemas.microsoft.com/office/drawing/2014/main" id="{20F023B5-F462-4429-98C1-FC71B3AB9BF0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3381375" cy="723900"/>
          </a:xfrm>
          <a:prstGeom prst="rect">
            <a:avLst/>
          </a:prstGeom>
          <a:solidFill>
            <a:srgbClr val="FFFFFF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Separately prepared</a:t>
            </a:r>
          </a:p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current-failure evidence</a:t>
            </a:r>
          </a:p>
        </p:txBody>
      </p:sp>
      <p:sp>
        <p:nvSpPr>
          <p:cNvPr id="10" name="5. Retrieve&#10;relevant evidence">
            <a:extLst>
              <a:ext uri="{FF2B5EF4-FFF2-40B4-BE49-F238E27FC236}">
                <a16:creationId xmlns:a16="http://schemas.microsoft.com/office/drawing/2014/main" id="{1D9E0C59-BC1C-4E73-8C66-41E6565A5B2B}"/>
              </a:ext>
            </a:extLst>
          </p:cNvPr>
          <p:cNvSpPr>
            <a:spLocks noGrp="1"/>
          </p:cNvSpPr>
          <p:nvPr/>
        </p:nvSpPr>
        <p:spPr>
          <a:xfrm>
            <a:off x="6429375" y="3609975"/>
            <a:ext cx="2333625" cy="104775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5. Retrieve</a:t>
            </a:r>
          </a:p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relevant evidence</a:t>
            </a:r>
          </a:p>
        </p:txBody>
      </p:sp>
      <p:sp>
        <p:nvSpPr>
          <p:cNvPr id="11" name="6. Local model:&#10;ranked causes&#10;and citations">
            <a:extLst>
              <a:ext uri="{FF2B5EF4-FFF2-40B4-BE49-F238E27FC236}">
                <a16:creationId xmlns:a16="http://schemas.microsoft.com/office/drawing/2014/main" id="{85BD56FA-D942-4553-995F-FE613BE5C131}"/>
              </a:ext>
            </a:extLst>
          </p:cNvPr>
          <p:cNvSpPr>
            <a:spLocks noGrp="1"/>
          </p:cNvSpPr>
          <p:nvPr/>
        </p:nvSpPr>
        <p:spPr>
          <a:xfrm>
            <a:off x="9334500" y="3609975"/>
            <a:ext cx="2143125" cy="1047750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6. Local model:</a:t>
            </a:r>
          </a:p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ranked causes</a:t>
            </a:r>
          </a:p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and citations</a:t>
            </a:r>
          </a:p>
        </p:txBody>
      </p:sp>
      <p:sp>
        <p:nvSpPr>
          <p:cNvPr id="12" name="7. Deterministic&#10;citation checks">
            <a:extLst>
              <a:ext uri="{FF2B5EF4-FFF2-40B4-BE49-F238E27FC236}">
                <a16:creationId xmlns:a16="http://schemas.microsoft.com/office/drawing/2014/main" id="{AE8785B9-073F-46BB-930F-4E77ED8606E3}"/>
              </a:ext>
            </a:extLst>
          </p:cNvPr>
          <p:cNvSpPr>
            <a:spLocks noGrp="1"/>
          </p:cNvSpPr>
          <p:nvPr/>
        </p:nvSpPr>
        <p:spPr>
          <a:xfrm>
            <a:off x="9334500" y="5153025"/>
            <a:ext cx="2143125" cy="7334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7. Deterministic</a:t>
            </a:r>
          </a:p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citation checks</a:t>
            </a:r>
          </a:p>
        </p:txBody>
      </p:sp>
      <p:sp>
        <p:nvSpPr>
          <p:cNvPr id="13" name="8. Supported answer&#10;or refusal">
            <a:extLst>
              <a:ext uri="{FF2B5EF4-FFF2-40B4-BE49-F238E27FC236}">
                <a16:creationId xmlns:a16="http://schemas.microsoft.com/office/drawing/2014/main" id="{8C3597CE-6CE2-462A-8870-2563C835F78C}"/>
              </a:ext>
            </a:extLst>
          </p:cNvPr>
          <p:cNvSpPr>
            <a:spLocks noGrp="1"/>
          </p:cNvSpPr>
          <p:nvPr/>
        </p:nvSpPr>
        <p:spPr>
          <a:xfrm>
            <a:off x="6191250" y="5153025"/>
            <a:ext cx="2524125" cy="7334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8. Supported answer</a:t>
            </a:r>
          </a:p>
          <a:p>
            <a:pPr algn="ctr">
              <a:defRPr sz="1725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or refusal</a:t>
            </a:r>
          </a:p>
        </p:txBody>
      </p:sp>
      <p:cxnSp>
        <p:nvCxnSpPr>
          <p:cNvPr id="35" name="Straight Arrow Connector 34"/>
          <p:cNvCxnSpPr>
            <a:stCxn id="5" idx="3"/>
            <a:endCxn id="6" idx="1"/>
          </p:cNvCxnSpPr>
          <p:nvPr/>
        </p:nvCxnSpPr>
        <p:spPr>
          <a:xfrm>
            <a:off x="3048000" y="2419350"/>
            <a:ext cx="523875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36" name="Straight Arrow Connector 35"/>
          <p:cNvCxnSpPr>
            <a:stCxn id="6" idx="3"/>
            <a:endCxn id="7" idx="1"/>
          </p:cNvCxnSpPr>
          <p:nvPr/>
        </p:nvCxnSpPr>
        <p:spPr>
          <a:xfrm>
            <a:off x="5905500" y="2419350"/>
            <a:ext cx="523875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7596188" y="2838450"/>
            <a:ext cx="0" cy="771525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38" name="Connector: Elbow 37"/>
          <p:cNvCxnSpPr>
            <a:stCxn id="8" idx="3"/>
            <a:endCxn id="10" idx="1"/>
          </p:cNvCxnSpPr>
          <p:nvPr/>
        </p:nvCxnSpPr>
        <p:spPr>
          <a:xfrm>
            <a:off x="4143375" y="3762375"/>
            <a:ext cx="2286000" cy="371475"/>
          </a:xfrm>
          <a:prstGeom prst="bentConnector3">
            <a:avLst>
              <a:gd name="adj1" fmla="val 50000"/>
            </a:avLst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39" name="Connector: Elbow 38"/>
          <p:cNvCxnSpPr>
            <a:stCxn id="9" idx="3"/>
            <a:endCxn id="10" idx="1"/>
          </p:cNvCxnSpPr>
          <p:nvPr/>
        </p:nvCxnSpPr>
        <p:spPr>
          <a:xfrm flipV="1">
            <a:off x="4143375" y="4133850"/>
            <a:ext cx="2286000" cy="666750"/>
          </a:xfrm>
          <a:prstGeom prst="bentConnector3">
            <a:avLst>
              <a:gd name="adj1" fmla="val 50000"/>
            </a:avLst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40" name="Straight Arrow Connector 39"/>
          <p:cNvCxnSpPr>
            <a:stCxn id="10" idx="3"/>
            <a:endCxn id="11" idx="1"/>
          </p:cNvCxnSpPr>
          <p:nvPr/>
        </p:nvCxnSpPr>
        <p:spPr>
          <a:xfrm>
            <a:off x="8763000" y="4133850"/>
            <a:ext cx="571500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41" name="Straight Arrow Connector 40"/>
          <p:cNvCxnSpPr>
            <a:stCxn id="11" idx="2"/>
            <a:endCxn id="12" idx="0"/>
          </p:cNvCxnSpPr>
          <p:nvPr/>
        </p:nvCxnSpPr>
        <p:spPr>
          <a:xfrm>
            <a:off x="10406063" y="4657725"/>
            <a:ext cx="0" cy="49530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cxnSp>
        <p:nvCxnSpPr>
          <p:cNvPr id="42" name="Straight Arrow Connector 41"/>
          <p:cNvCxnSpPr>
            <a:stCxn id="12" idx="1"/>
            <a:endCxn id="13" idx="3"/>
          </p:cNvCxnSpPr>
          <p:nvPr/>
        </p:nvCxnSpPr>
        <p:spPr>
          <a:xfrm flipH="1">
            <a:off x="8715375" y="5519738"/>
            <a:ext cx="619125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7050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lock 2: Evidence Chunks">
            <a:extLst>
              <a:ext uri="{FF2B5EF4-FFF2-40B4-BE49-F238E27FC236}">
                <a16:creationId xmlns:a16="http://schemas.microsoft.com/office/drawing/2014/main" id="{E1F93940-A4AE-4A05-BBB0-5859A1B4485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Block 2: Evidence Chunks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F032D4D7-963D-4FDA-9E9C-6B259D5C8FF0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91 chunks are not 91 incidents. The 373 synthetic retest results ">
            <a:extLst>
              <a:ext uri="{FF2B5EF4-FFF2-40B4-BE49-F238E27FC236}">
                <a16:creationId xmlns:a16="http://schemas.microsoft.com/office/drawing/2014/main" id="{A30D61A0-C8DD-4870-A1B1-D866B5F74DB6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Historical cases are investigation folders.&#10;Chunks are smaller ev">
            <a:extLst>
              <a:ext uri="{FF2B5EF4-FFF2-40B4-BE49-F238E27FC236}">
                <a16:creationId xmlns:a16="http://schemas.microsoft.com/office/drawing/2014/main" id="{BF90D979-0A3E-4EEA-B569-AF07A792A7A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Historical cases are investigation folders.</a:t>
            </a:r>
          </a:p>
          <a:p>
            <a:pPr algn="l">
              <a:defRPr sz="24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Chunks are smaller evidence cards.</a:t>
            </a:r>
          </a:p>
        </p:txBody>
      </p:sp>
      <p:sp>
        <p:nvSpPr>
          <p:cNvPr id="5" name="25 historical&#10;evidence files">
            <a:extLst>
              <a:ext uri="{FF2B5EF4-FFF2-40B4-BE49-F238E27FC236}">
                <a16:creationId xmlns:a16="http://schemas.microsoft.com/office/drawing/2014/main" id="{52ABD89F-C8A0-48F3-B62D-963B7F4EB57A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333625" cy="11144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25 historical</a:t>
            </a:r>
          </a:p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evidence files</a:t>
            </a:r>
          </a:p>
        </p:txBody>
      </p:sp>
      <p:sp>
        <p:nvSpPr>
          <p:cNvPr id="6" name="91 historical&#10;evidence chunks">
            <a:extLst>
              <a:ext uri="{FF2B5EF4-FFF2-40B4-BE49-F238E27FC236}">
                <a16:creationId xmlns:a16="http://schemas.microsoft.com/office/drawing/2014/main" id="{DAE46AF9-B6B7-4F77-9A77-44C3F5AB23E2}"/>
              </a:ext>
            </a:extLst>
          </p:cNvPr>
          <p:cNvSpPr>
            <a:spLocks noGrp="1"/>
          </p:cNvSpPr>
          <p:nvPr/>
        </p:nvSpPr>
        <p:spPr>
          <a:xfrm>
            <a:off x="3638550" y="2819400"/>
            <a:ext cx="2333625" cy="1114425"/>
          </a:xfrm>
          <a:prstGeom prst="rect">
            <a:avLst/>
          </a:prstGeom>
          <a:solidFill>
            <a:srgbClr val="EDF5FB"/>
          </a:solidFill>
          <a:ln w="11906">
            <a:solidFill>
              <a:srgbClr val="CCDDEB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91 historical</a:t>
            </a:r>
          </a:p>
          <a:p>
            <a:pPr algn="ctr">
              <a:defRPr sz="180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375C"/>
                </a:solidFill>
                <a:latin typeface="Arial"/>
                <a:ea typeface="Arial"/>
                <a:cs typeface="Arial"/>
              </a:rPr>
              <a:t>evidence chunks</a:t>
            </a:r>
          </a:p>
        </p:txBody>
      </p:sp>
      <p:cxnSp>
        <p:nvCxnSpPr>
          <p:cNvPr id="18" name="Straight Arrow Connector 17"/>
          <p:cNvCxnSpPr>
            <a:stCxn id="5" idx="3"/>
            <a:endCxn id="6" idx="1"/>
          </p:cNvCxnSpPr>
          <p:nvPr/>
        </p:nvCxnSpPr>
        <p:spPr>
          <a:xfrm>
            <a:off x="2943225" y="3376613"/>
            <a:ext cx="695325" cy="0"/>
          </a:xfrm>
          <a:prstGeom prst="straightConnector1">
            <a:avLst/>
          </a:prstGeom>
          <a:ln w="19050">
            <a:solidFill>
              <a:srgbClr val="0066B3"/>
            </a:solidFill>
            <a:tailEnd type="triangle" w="sm" len="sm"/>
          </a:ln>
        </p:spPr>
      </p:cxnSp>
      <p:sp>
        <p:nvSpPr>
          <p:cNvPr id="8" name="ONE CARD KEEPS ITS SOURCE ADDRESS">
            <a:extLst>
              <a:ext uri="{FF2B5EF4-FFF2-40B4-BE49-F238E27FC236}">
                <a16:creationId xmlns:a16="http://schemas.microsoft.com/office/drawing/2014/main" id="{ACC14ED2-F74D-4209-8509-DD5CC4428AEE}"/>
              </a:ext>
            </a:extLst>
          </p:cNvPr>
          <p:cNvSpPr>
            <a:spLocks noGrp="1"/>
          </p:cNvSpPr>
          <p:nvPr/>
        </p:nvSpPr>
        <p:spPr>
          <a:xfrm>
            <a:off x="6619875" y="25336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ONE CARD KEEPS ITS SOURCE ADDRESS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6619875" y="2962275"/>
          <a:ext cx="4905375" cy="1666875"/>
        </p:xfrm>
        <a:graphic>
          <a:graphicData uri="http://schemas.openxmlformats.org/drawingml/2006/table">
            <a:tbl>
              <a:tblPr/>
              <a:tblGrid>
                <a:gridCol w="196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 / origin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001 / real observed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Open/Short-, AMSDSM 40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Original log lines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12704–12706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Case 007: 1 separate chunk&#10;373 retest results preserved&#10;15 ingest">
            <a:extLst>
              <a:ext uri="{FF2B5EF4-FFF2-40B4-BE49-F238E27FC236}">
                <a16:creationId xmlns:a16="http://schemas.microsoft.com/office/drawing/2014/main" id="{1B383633-3A5B-4AC6-9932-62EF3943B46A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7150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Case 007: 1 separate chunk</a:t>
            </a:r>
          </a:p>
          <a:p>
            <a:pPr algn="l">
              <a:defRPr sz="21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373 retest results preserved</a:t>
            </a:r>
          </a:p>
          <a:p>
            <a:pPr algn="l">
              <a:defRPr sz="21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15 ingestion tests passed</a:t>
            </a:r>
          </a:p>
        </p:txBody>
      </p:sp>
      <p:sp>
        <p:nvSpPr>
          <p:cNvPr id="11" name="Every chunk retains case/device identity,&#10;source lines, file hash">
            <a:extLst>
              <a:ext uri="{FF2B5EF4-FFF2-40B4-BE49-F238E27FC236}">
                <a16:creationId xmlns:a16="http://schemas.microsoft.com/office/drawing/2014/main" id="{DADE9501-0E8A-4A4E-BA79-91C657E41A8F}"/>
              </a:ext>
            </a:extLst>
          </p:cNvPr>
          <p:cNvSpPr>
            <a:spLocks noGrp="1"/>
          </p:cNvSpPr>
          <p:nvPr/>
        </p:nvSpPr>
        <p:spPr>
          <a:xfrm>
            <a:off x="6619875" y="5000625"/>
            <a:ext cx="490537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Every chunk retains case/device identity,</a:t>
            </a:r>
          </a:p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source lines, file hash and origin label.</a:t>
            </a:r>
          </a:p>
        </p:txBody>
      </p:sp>
    </p:spTree>
    <p:extLst>
      <p:ext uri="{BB962C8B-B14F-4D97-AF65-F5344CB8AC3E}">
        <p14:creationId xmlns:p14="http://schemas.microsoft.com/office/powerpoint/2010/main" val="199385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lock 3: Local Search">
            <a:extLst>
              <a:ext uri="{FF2B5EF4-FFF2-40B4-BE49-F238E27FC236}">
                <a16:creationId xmlns:a16="http://schemas.microsoft.com/office/drawing/2014/main" id="{E427D09D-F8D7-4D66-A478-62FEA83C741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Block 3: Local Search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094DC350-B555-4CFC-9502-CFE58AA712C4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Planned: src/index.py is still a placeholder. Search relevance do">
            <a:extLst>
              <a:ext uri="{FF2B5EF4-FFF2-40B4-BE49-F238E27FC236}">
                <a16:creationId xmlns:a16="http://schemas.microsoft.com/office/drawing/2014/main" id="{B1063F0E-B085-48E9-BB19-2473E4395E01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KEYWORD SEARCH">
            <a:extLst>
              <a:ext uri="{FF2B5EF4-FFF2-40B4-BE49-F238E27FC236}">
                <a16:creationId xmlns:a16="http://schemas.microsoft.com/office/drawing/2014/main" id="{6FCE0038-AF21-4ABD-A4F3-9FEA3F665B1F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KEYWORD SEARCH</a:t>
            </a:r>
          </a:p>
        </p:txBody>
      </p:sp>
      <p:sp>
        <p:nvSpPr>
          <p:cNvPr id="5" name="Find exact identifiers&#10;and terms.">
            <a:extLst>
              <a:ext uri="{FF2B5EF4-FFF2-40B4-BE49-F238E27FC236}">
                <a16:creationId xmlns:a16="http://schemas.microsoft.com/office/drawing/2014/main" id="{A539AF8A-7F6F-42E9-982A-6E9EA00D672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Find exact identifiers</a:t>
            </a:r>
          </a:p>
          <a:p>
            <a:pPr algn="l">
              <a:defRPr sz="27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and terms.</a:t>
            </a:r>
          </a:p>
        </p:txBody>
      </p:sp>
      <p:sp>
        <p:nvSpPr>
          <p:cNvPr id="6" name="Examples: test 100,&#10;Open/Short-, AMSDSM">
            <a:extLst>
              <a:ext uri="{FF2B5EF4-FFF2-40B4-BE49-F238E27FC236}">
                <a16:creationId xmlns:a16="http://schemas.microsoft.com/office/drawing/2014/main" id="{15273898-FCF1-4C6C-A263-6AA9BD419A5E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Examples: test 100,</a:t>
            </a:r>
          </a:p>
          <a:p>
            <a:pPr algn="l">
              <a:defRPr sz="21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Open/Short-, AMSDSM</a:t>
            </a:r>
          </a:p>
        </p:txBody>
      </p:sp>
      <p:sp>
        <p:nvSpPr>
          <p:cNvPr id="7" name="VECTOR SEARCH">
            <a:extLst>
              <a:ext uri="{FF2B5EF4-FFF2-40B4-BE49-F238E27FC236}">
                <a16:creationId xmlns:a16="http://schemas.microsoft.com/office/drawing/2014/main" id="{63EB674A-78ED-4904-8A27-FD4366400FD6}"/>
              </a:ext>
            </a:extLst>
          </p:cNvPr>
          <p:cNvSpPr>
            <a:spLocks noGrp="1"/>
          </p:cNvSpPr>
          <p:nvPr/>
        </p:nvSpPr>
        <p:spPr>
          <a:xfrm>
            <a:off x="6524625" y="15621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VECTOR SEARCH</a:t>
            </a:r>
          </a:p>
        </p:txBody>
      </p:sp>
      <p:sp>
        <p:nvSpPr>
          <p:cNvPr id="8" name="Find evidence with&#10;related meaning.">
            <a:extLst>
              <a:ext uri="{FF2B5EF4-FFF2-40B4-BE49-F238E27FC236}">
                <a16:creationId xmlns:a16="http://schemas.microsoft.com/office/drawing/2014/main" id="{57FD0AD4-D130-48B6-8173-F7B28C4B19C2}"/>
              </a:ext>
            </a:extLst>
          </p:cNvPr>
          <p:cNvSpPr>
            <a:spLocks noGrp="1"/>
          </p:cNvSpPr>
          <p:nvPr/>
        </p:nvSpPr>
        <p:spPr>
          <a:xfrm>
            <a:off x="6524625" y="2038350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Find evidence with</a:t>
            </a:r>
          </a:p>
          <a:p>
            <a:pPr algn="l">
              <a:defRPr sz="27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related meaning.</a:t>
            </a:r>
          </a:p>
        </p:txBody>
      </p:sp>
      <p:sp>
        <p:nvSpPr>
          <p:cNvPr id="9" name="An embedding represents text&#10;as numbers for similarity search.">
            <a:extLst>
              <a:ext uri="{FF2B5EF4-FFF2-40B4-BE49-F238E27FC236}">
                <a16:creationId xmlns:a16="http://schemas.microsoft.com/office/drawing/2014/main" id="{A00A6FD8-A781-4950-AB8E-9D83AFAD73F4}"/>
              </a:ext>
            </a:extLst>
          </p:cNvPr>
          <p:cNvSpPr>
            <a:spLocks noGrp="1"/>
          </p:cNvSpPr>
          <p:nvPr/>
        </p:nvSpPr>
        <p:spPr>
          <a:xfrm>
            <a:off x="6524625" y="3295650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An embedding represents text</a:t>
            </a:r>
          </a:p>
          <a:p>
            <a:pPr algn="l">
              <a:defRPr sz="21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as numbers for similarity search.</a:t>
            </a:r>
          </a:p>
        </p:txBody>
      </p:sp>
      <p:sp>
        <p:nvSpPr>
          <p:cNvPr id="10" name="Both search the historical collection.&#10;Case 007 remains separate ">
            <a:extLst>
              <a:ext uri="{FF2B5EF4-FFF2-40B4-BE49-F238E27FC236}">
                <a16:creationId xmlns:a16="http://schemas.microsoft.com/office/drawing/2014/main" id="{031B7D5A-E30C-4455-9A09-7D3816142D57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10763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Both search the historical collection.</a:t>
            </a:r>
          </a:p>
          <a:p>
            <a:pPr algn="l">
              <a:defRPr sz="225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Case 007 remains separate as the current evidence.</a:t>
            </a:r>
          </a:p>
        </p:txBody>
      </p:sp>
    </p:spTree>
    <p:extLst>
      <p:ext uri="{BB962C8B-B14F-4D97-AF65-F5344CB8AC3E}">
        <p14:creationId xmlns:p14="http://schemas.microsoft.com/office/powerpoint/2010/main" val="27831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ample Intended Response">
            <a:extLst>
              <a:ext uri="{FF2B5EF4-FFF2-40B4-BE49-F238E27FC236}">
                <a16:creationId xmlns:a16="http://schemas.microsoft.com/office/drawing/2014/main" id="{EFD13D35-CE20-4229-89B6-D313FADB80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Example Intended Response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40889170-E54A-4F99-803A-6B2D6FEC1E8B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Illustrative response, not measured model output. No confirmed ca">
            <a:extLst>
              <a:ext uri="{FF2B5EF4-FFF2-40B4-BE49-F238E27FC236}">
                <a16:creationId xmlns:a16="http://schemas.microsoft.com/office/drawing/2014/main" id="{8C0EB116-6A50-4CF7-8037-0AF7BC53F685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OBSERVED FAILURE">
            <a:extLst>
              <a:ext uri="{FF2B5EF4-FFF2-40B4-BE49-F238E27FC236}">
                <a16:creationId xmlns:a16="http://schemas.microsoft.com/office/drawing/2014/main" id="{25808FF3-0A5B-4FE4-92E0-3A18C40BC6D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OBSERVED FAILURE</a:t>
            </a:r>
          </a:p>
        </p:txBody>
      </p:sp>
      <p:sp>
        <p:nvSpPr>
          <p:cNvPr id="5" name="Case 007: test 100, AMSDSM 40, FAIL / PASS / FAIL. [C]">
            <a:extLst>
              <a:ext uri="{FF2B5EF4-FFF2-40B4-BE49-F238E27FC236}">
                <a16:creationId xmlns:a16="http://schemas.microsoft.com/office/drawing/2014/main" id="{F605A147-09F3-4B75-8D93-1372BF7E7374}"/>
              </a:ext>
            </a:extLst>
          </p:cNvPr>
          <p:cNvSpPr>
            <a:spLocks noGrp="1"/>
          </p:cNvSpPr>
          <p:nvPr/>
        </p:nvSpPr>
        <p:spPr>
          <a:xfrm>
            <a:off x="3476625" y="1428750"/>
            <a:ext cx="7953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Case 007: test 100, AMSDSM 40, FAIL / PASS / FAIL. [C]</a:t>
            </a:r>
          </a:p>
        </p:txBody>
      </p:sp>
      <p:sp>
        <p:nvSpPr>
          <p:cNvPr id="6" name="RELEVANT HISTORY">
            <a:extLst>
              <a:ext uri="{FF2B5EF4-FFF2-40B4-BE49-F238E27FC236}">
                <a16:creationId xmlns:a16="http://schemas.microsoft.com/office/drawing/2014/main" id="{4A924C10-8D34-42BA-A0EE-A241D42ED773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RELEVANT HISTORY</a:t>
            </a:r>
          </a:p>
        </p:txBody>
      </p:sp>
      <p:sp>
        <p:nvSpPr>
          <p:cNvPr id="7" name="001: “Probe-contact contamination in the simulated setup” [H1]&#10;00">
            <a:extLst>
              <a:ext uri="{FF2B5EF4-FFF2-40B4-BE49-F238E27FC236}">
                <a16:creationId xmlns:a16="http://schemas.microsoft.com/office/drawing/2014/main" id="{D582926D-587B-48DC-A93C-17093C335AD3}"/>
              </a:ext>
            </a:extLst>
          </p:cNvPr>
          <p:cNvSpPr>
            <a:spLocks noGrp="1"/>
          </p:cNvSpPr>
          <p:nvPr/>
        </p:nvSpPr>
        <p:spPr>
          <a:xfrm>
            <a:off x="3476625" y="2219325"/>
            <a:ext cx="80486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001: “Probe-contact contamination in the simulated setup” [H1]</a:t>
            </a:r>
          </a:p>
          <a:p>
            <a:pPr algn="l">
              <a:defRPr sz="18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002: “Die-side connection defect in the simulated AMSDSM path” [H2]</a:t>
            </a:r>
          </a:p>
        </p:txBody>
      </p:sp>
      <p:sp>
        <p:nvSpPr>
          <p:cNvPr id="8" name="POSSIBLE EXPLANATION">
            <a:extLst>
              <a:ext uri="{FF2B5EF4-FFF2-40B4-BE49-F238E27FC236}">
                <a16:creationId xmlns:a16="http://schemas.microsoft.com/office/drawing/2014/main" id="{5BE20103-6581-42F3-8740-FD48D441F5E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POSSIBLE EXPLANATION</a:t>
            </a:r>
          </a:p>
        </p:txBody>
      </p:sp>
      <p:sp>
        <p:nvSpPr>
          <p:cNvPr id="9" name="Contact/interface and device-path explanations are hypotheses.&#10;Th">
            <a:extLst>
              <a:ext uri="{FF2B5EF4-FFF2-40B4-BE49-F238E27FC236}">
                <a16:creationId xmlns:a16="http://schemas.microsoft.com/office/drawing/2014/main" id="{44F53F39-75AD-4549-B867-3265C4E17FA2}"/>
              </a:ext>
            </a:extLst>
          </p:cNvPr>
          <p:cNvSpPr>
            <a:spLocks noGrp="1"/>
          </p:cNvSpPr>
          <p:nvPr/>
        </p:nvSpPr>
        <p:spPr>
          <a:xfrm>
            <a:off x="3476625" y="3343275"/>
            <a:ext cx="80486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Contact/interface and device-path explanations are hypotheses.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The current evidence does not distinguish them.</a:t>
            </a:r>
          </a:p>
        </p:txBody>
      </p:sp>
      <p:sp>
        <p:nvSpPr>
          <p:cNvPr id="10" name="MISSING EVIDENCE">
            <a:extLst>
              <a:ext uri="{FF2B5EF4-FFF2-40B4-BE49-F238E27FC236}">
                <a16:creationId xmlns:a16="http://schemas.microsoft.com/office/drawing/2014/main" id="{BF59567A-23F1-4618-AC70-1D3A09141354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MISSING EVIDENCE</a:t>
            </a:r>
          </a:p>
        </p:txBody>
      </p:sp>
      <p:sp>
        <p:nvSpPr>
          <p:cNvPr id="11" name="Comparable setup, contact checks and correctly identified repeats">
            <a:extLst>
              <a:ext uri="{FF2B5EF4-FFF2-40B4-BE49-F238E27FC236}">
                <a16:creationId xmlns:a16="http://schemas.microsoft.com/office/drawing/2014/main" id="{EE6024CF-8E35-44AD-A42C-A67BC5E42766}"/>
              </a:ext>
            </a:extLst>
          </p:cNvPr>
          <p:cNvSpPr>
            <a:spLocks noGrp="1"/>
          </p:cNvSpPr>
          <p:nvPr/>
        </p:nvSpPr>
        <p:spPr>
          <a:xfrm>
            <a:off x="3476625" y="4400550"/>
            <a:ext cx="8048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Comparable setup, contact checks and correctly identified repeats.</a:t>
            </a:r>
          </a:p>
        </p:txBody>
      </p:sp>
      <p:sp>
        <p:nvSpPr>
          <p:cNvPr id="12" name="SUGGESTED NEXT CHECK">
            <a:extLst>
              <a:ext uri="{FF2B5EF4-FFF2-40B4-BE49-F238E27FC236}">
                <a16:creationId xmlns:a16="http://schemas.microsoft.com/office/drawing/2014/main" id="{4039E9F8-99E1-445E-A1BC-76E2227BF616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SUGGESTED NEXT CHECK</a:t>
            </a:r>
          </a:p>
        </p:txBody>
      </p:sp>
      <p:sp>
        <p:nvSpPr>
          <p:cNvPr id="13" name="Engineer to choose a controlled interface/reference comparison&#10;an">
            <a:extLst>
              <a:ext uri="{FF2B5EF4-FFF2-40B4-BE49-F238E27FC236}">
                <a16:creationId xmlns:a16="http://schemas.microsoft.com/office/drawing/2014/main" id="{31684660-FFB7-49B3-ABF8-A7580E713CBC}"/>
              </a:ext>
            </a:extLst>
          </p:cNvPr>
          <p:cNvSpPr>
            <a:spLocks noGrp="1"/>
          </p:cNvSpPr>
          <p:nvPr/>
        </p:nvSpPr>
        <p:spPr>
          <a:xfrm>
            <a:off x="3476625" y="5229225"/>
            <a:ext cx="80486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Engineer to choose a controlled interface/reference comparison</a:t>
            </a:r>
          </a:p>
          <a:p>
            <a:pPr algn="l">
              <a:defRPr sz="187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and record the same-device result under documented conditions.</a:t>
            </a:r>
          </a:p>
        </p:txBody>
      </p:sp>
    </p:spTree>
    <p:extLst>
      <p:ext uri="{BB962C8B-B14F-4D97-AF65-F5344CB8AC3E}">
        <p14:creationId xmlns:p14="http://schemas.microsoft.com/office/powerpoint/2010/main" val="1603029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gress and Planned Evaluation">
            <a:extLst>
              <a:ext uri="{FF2B5EF4-FFF2-40B4-BE49-F238E27FC236}">
                <a16:creationId xmlns:a16="http://schemas.microsoft.com/office/drawing/2014/main" id="{58E44B11-BEDC-49D4-8131-2D55997461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Progress and Planned Evaluation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237BC771-59B5-4CDF-BEE4-ACB46ADE6A42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pository checked 22 September 2026. Board benchmarks and engine">
            <a:extLst>
              <a:ext uri="{FF2B5EF4-FFF2-40B4-BE49-F238E27FC236}">
                <a16:creationId xmlns:a16="http://schemas.microsoft.com/office/drawing/2014/main" id="{82317BD9-D6CB-4EFC-BBF8-419C0F91904E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609600" y="1457325"/>
          <a:ext cx="10953750" cy="2305052"/>
        </p:xfrm>
        <a:graphic>
          <a:graphicData uri="http://schemas.openxmlformats.org/drawingml/2006/table">
            <a:tbl>
              <a:tblPr/>
              <a:tblGrid>
                <a:gridCol w="54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for this demonstration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Evidence selection and provenance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Keyword/vector indexing and retrieval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Chunking with separate current evidence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Local generation and answer verification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15 ingestion tests; source integrity checks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Jetson AGX Orin and RB3 Gen 2 evaluation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PLANNED QUALITY MEASURES">
            <a:extLst>
              <a:ext uri="{FF2B5EF4-FFF2-40B4-BE49-F238E27FC236}">
                <a16:creationId xmlns:a16="http://schemas.microsoft.com/office/drawing/2014/main" id="{DB8F1D0D-2DFA-4AC5-AE57-803D6B2CAF3E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PLANNED QUALITY MEASURES</a:t>
            </a:r>
          </a:p>
        </p:txBody>
      </p:sp>
      <p:sp>
        <p:nvSpPr>
          <p:cNvPr id="6" name="False-answer rate and refusal rate&#10;Accuracy under an agreed rubri">
            <a:extLst>
              <a:ext uri="{FF2B5EF4-FFF2-40B4-BE49-F238E27FC236}">
                <a16:creationId xmlns:a16="http://schemas.microsoft.com/office/drawing/2014/main" id="{D4BB8E1C-68EB-437B-8575-17E38B6DB3C5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False-answer rate and refusal rate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Accuracy under an agreed rubric</a:t>
            </a:r>
          </a:p>
        </p:txBody>
      </p:sp>
      <p:sp>
        <p:nvSpPr>
          <p:cNvPr id="7" name="PLANNED PERFORMANCE MEASURES">
            <a:extLst>
              <a:ext uri="{FF2B5EF4-FFF2-40B4-BE49-F238E27FC236}">
                <a16:creationId xmlns:a16="http://schemas.microsoft.com/office/drawing/2014/main" id="{92D535DF-2962-4C8A-824E-CBA3A1610BC0}"/>
              </a:ext>
            </a:extLst>
          </p:cNvPr>
          <p:cNvSpPr>
            <a:spLocks noGrp="1"/>
          </p:cNvSpPr>
          <p:nvPr/>
        </p:nvSpPr>
        <p:spPr>
          <a:xfrm>
            <a:off x="6477000" y="406717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PLANNED PERFORMANCE MEASURES</a:t>
            </a:r>
          </a:p>
        </p:txBody>
      </p:sp>
      <p:sp>
        <p:nvSpPr>
          <p:cNvPr id="8" name="Latency, tokens/s, power&#10;Energy per triage">
            <a:extLst>
              <a:ext uri="{FF2B5EF4-FFF2-40B4-BE49-F238E27FC236}">
                <a16:creationId xmlns:a16="http://schemas.microsoft.com/office/drawing/2014/main" id="{F1DCC90E-DA4F-4905-A158-EDFF10C9945B}"/>
              </a:ext>
            </a:extLst>
          </p:cNvPr>
          <p:cNvSpPr>
            <a:spLocks noGrp="1"/>
          </p:cNvSpPr>
          <p:nvPr/>
        </p:nvSpPr>
        <p:spPr>
          <a:xfrm>
            <a:off x="6477000" y="4467225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Latency, tokens/s, power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Energy per triage</a:t>
            </a:r>
          </a:p>
        </p:txBody>
      </p:sp>
      <p:sp>
        <p:nvSpPr>
          <p:cNvPr id="9" name="Target: at least 50 answerable questions plus 10 refusal cases, a">
            <a:extLst>
              <a:ext uri="{FF2B5EF4-FFF2-40B4-BE49-F238E27FC236}">
                <a16:creationId xmlns:a16="http://schemas.microsoft.com/office/drawing/2014/main" id="{2D686369-A37C-479D-A377-3CB13CF6F64F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0763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0375C"/>
                </a:solidFill>
                <a:latin typeface="Arial"/>
                <a:ea typeface="Arial"/>
                <a:cs typeface="Arial"/>
              </a:rPr>
              <a:t>Target: at least 50 answerable questions plus 10 refusal cases, and a technical paper.</a:t>
            </a:r>
          </a:p>
          <a:p>
            <a:pPr algn="l">
              <a:defRPr sz="1650" b="0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0375C"/>
                </a:solidFill>
                <a:latin typeface="Arial"/>
                <a:ea typeface="Arial"/>
                <a:cs typeface="Arial"/>
              </a:rPr>
              <a:t>Question count alone does not establish scenario diversity.</a:t>
            </a:r>
          </a:p>
        </p:txBody>
      </p:sp>
    </p:spTree>
    <p:extLst>
      <p:ext uri="{BB962C8B-B14F-4D97-AF65-F5344CB8AC3E}">
        <p14:creationId xmlns:p14="http://schemas.microsoft.com/office/powerpoint/2010/main" val="45922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aset Expansion and Engineer Review">
            <a:extLst>
              <a:ext uri="{FF2B5EF4-FFF2-40B4-BE49-F238E27FC236}">
                <a16:creationId xmlns:a16="http://schemas.microsoft.com/office/drawing/2014/main" id="{AA5BA2BD-FD2A-473E-AB23-C1F57AB4B6D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Dataset Expansion and Engineer Review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CA6E537F-849E-49A4-B097-D0046DF5F849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Proposed expansion. Synthetic records remain synthetic after plau">
            <a:extLst>
              <a:ext uri="{FF2B5EF4-FFF2-40B4-BE49-F238E27FC236}">
                <a16:creationId xmlns:a16="http://schemas.microsoft.com/office/drawing/2014/main" id="{1150162E-00DD-4FB1-89AA-E33E7FE47461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Proposed expansion. Synthetic records remain synthetic after plausibility review.</a:t>
            </a:r>
          </a:p>
        </p:txBody>
      </p:sp>
      <p:sp>
        <p:nvSpPr>
          <p:cNvPr id="4" name="The six scenarios exercise evidence-handling situations.&#10;They are">
            <a:extLst>
              <a:ext uri="{FF2B5EF4-FFF2-40B4-BE49-F238E27FC236}">
                <a16:creationId xmlns:a16="http://schemas.microsoft.com/office/drawing/2014/main" id="{C203A3FD-B78F-4709-9C01-CE131BA2549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858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The six scenarios exercise evidence-handling situations.</a:t>
            </a:r>
          </a:p>
          <a:p>
            <a:pPr algn="l">
              <a:defRPr sz="2325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They are neither a technical limit nor a representative sample.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0D76842F-1B1B-42BA-925A-256B7EC258C9}"/>
              </a:ext>
            </a:extLst>
          </p:cNvPr>
          <p:cNvSpPr>
            <a:spLocks noGrp="1"/>
          </p:cNvSpPr>
          <p:nvPr/>
        </p:nvSpPr>
        <p:spPr>
          <a:xfrm>
            <a:off x="714375" y="27622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Extract the remaining recorded failure observations.">
            <a:extLst>
              <a:ext uri="{FF2B5EF4-FFF2-40B4-BE49-F238E27FC236}">
                <a16:creationId xmlns:a16="http://schemas.microsoft.com/office/drawing/2014/main" id="{FB0DCCEA-A96F-4AFF-9C16-DAF03F821817}"/>
              </a:ext>
            </a:extLst>
          </p:cNvPr>
          <p:cNvSpPr>
            <a:spLocks noGrp="1"/>
          </p:cNvSpPr>
          <p:nvPr/>
        </p:nvSpPr>
        <p:spPr>
          <a:xfrm>
            <a:off x="1476375" y="2800350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Extract the remaining recorded failure observations.</a:t>
            </a:r>
          </a:p>
        </p:txBody>
      </p:sp>
      <p:sp>
        <p:nvSpPr>
          <p:cNvPr id="7" name="2">
            <a:extLst>
              <a:ext uri="{FF2B5EF4-FFF2-40B4-BE49-F238E27FC236}">
                <a16:creationId xmlns:a16="http://schemas.microsoft.com/office/drawing/2014/main" id="{04130AEA-7F95-45FE-8766-D95E1CC7946E}"/>
              </a:ext>
            </a:extLst>
          </p:cNvPr>
          <p:cNvSpPr>
            <a:spLocks noGrp="1"/>
          </p:cNvSpPr>
          <p:nvPr/>
        </p:nvSpPr>
        <p:spPr>
          <a:xfrm>
            <a:off x="714375" y="35147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Group and review failure patterns with ATE engineers.">
            <a:extLst>
              <a:ext uri="{FF2B5EF4-FFF2-40B4-BE49-F238E27FC236}">
                <a16:creationId xmlns:a16="http://schemas.microsoft.com/office/drawing/2014/main" id="{600383CD-CB2C-4118-AE4E-F72FEB39DA6A}"/>
              </a:ext>
            </a:extLst>
          </p:cNvPr>
          <p:cNvSpPr>
            <a:spLocks noGrp="1"/>
          </p:cNvSpPr>
          <p:nvPr/>
        </p:nvSpPr>
        <p:spPr>
          <a:xfrm>
            <a:off x="1476375" y="3552825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Group and review failure patterns with ATE engineers.</a:t>
            </a:r>
          </a:p>
        </p:txBody>
      </p:sp>
      <p:sp>
        <p:nvSpPr>
          <p:cNvPr id="9" name="3">
            <a:extLst>
              <a:ext uri="{FF2B5EF4-FFF2-40B4-BE49-F238E27FC236}">
                <a16:creationId xmlns:a16="http://schemas.microsoft.com/office/drawing/2014/main" id="{3A590428-29BC-4D0C-9C7E-962CEFDAAB3B}"/>
              </a:ext>
            </a:extLst>
          </p:cNvPr>
          <p:cNvSpPr>
            <a:spLocks noGrp="1"/>
          </p:cNvSpPr>
          <p:nvPr/>
        </p:nvSpPr>
        <p:spPr>
          <a:xfrm>
            <a:off x="714375" y="42672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Add reviewed synthetic histories or authorized, anonymized real h">
            <a:extLst>
              <a:ext uri="{FF2B5EF4-FFF2-40B4-BE49-F238E27FC236}">
                <a16:creationId xmlns:a16="http://schemas.microsoft.com/office/drawing/2014/main" id="{08DFF5F3-970D-463C-8E25-19599D1DA4C7}"/>
              </a:ext>
            </a:extLst>
          </p:cNvPr>
          <p:cNvSpPr>
            <a:spLocks noGrp="1"/>
          </p:cNvSpPr>
          <p:nvPr/>
        </p:nvSpPr>
        <p:spPr>
          <a:xfrm>
            <a:off x="1476375" y="4305300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Add reviewed synthetic histories or authorized, anonymized real histories.</a:t>
            </a:r>
          </a:p>
        </p:txBody>
      </p:sp>
      <p:sp>
        <p:nvSpPr>
          <p:cNvPr id="11" name="4">
            <a:extLst>
              <a:ext uri="{FF2B5EF4-FFF2-40B4-BE49-F238E27FC236}">
                <a16:creationId xmlns:a16="http://schemas.microsoft.com/office/drawing/2014/main" id="{7DFB2673-EF38-4787-B36A-07EE18690BB1}"/>
              </a:ext>
            </a:extLst>
          </p:cNvPr>
          <p:cNvSpPr>
            <a:spLocks noGrp="1"/>
          </p:cNvSpPr>
          <p:nvPr/>
        </p:nvSpPr>
        <p:spPr>
          <a:xfrm>
            <a:off x="714375" y="501967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Keep unresolved cases unresolved.">
            <a:extLst>
              <a:ext uri="{FF2B5EF4-FFF2-40B4-BE49-F238E27FC236}">
                <a16:creationId xmlns:a16="http://schemas.microsoft.com/office/drawing/2014/main" id="{FDABF2E3-CCA8-47DE-A837-DB32AA33D9AE}"/>
              </a:ext>
            </a:extLst>
          </p:cNvPr>
          <p:cNvSpPr>
            <a:spLocks noGrp="1"/>
          </p:cNvSpPr>
          <p:nvPr/>
        </p:nvSpPr>
        <p:spPr>
          <a:xfrm>
            <a:off x="1476375" y="5057775"/>
            <a:ext cx="99060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Keep unresolved cases unresolved.</a:t>
            </a:r>
          </a:p>
        </p:txBody>
      </p:sp>
    </p:spTree>
    <p:extLst>
      <p:ext uri="{BB962C8B-B14F-4D97-AF65-F5344CB8AC3E}">
        <p14:creationId xmlns:p14="http://schemas.microsoft.com/office/powerpoint/2010/main" val="67052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Questions and Decisions for the ATE Engineers">
            <a:extLst>
              <a:ext uri="{FF2B5EF4-FFF2-40B4-BE49-F238E27FC236}">
                <a16:creationId xmlns:a16="http://schemas.microsoft.com/office/drawing/2014/main" id="{028A59B8-F55C-4845-9792-58C4BFD093E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Questions and Decisions for the ATE Engineers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B336218E-7953-45A5-9704-AEF08F5C8CDF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Desired outcome: agreement on comparison fields, plausible invest">
            <a:extLst>
              <a:ext uri="{FF2B5EF4-FFF2-40B4-BE49-F238E27FC236}">
                <a16:creationId xmlns:a16="http://schemas.microsoft.com/office/drawing/2014/main" id="{314B769F-6895-4BB5-89ED-BDA76FEF7098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MPARISON AND IDENTITY">
            <a:extLst>
              <a:ext uri="{FF2B5EF4-FFF2-40B4-BE49-F238E27FC236}">
                <a16:creationId xmlns:a16="http://schemas.microsoft.com/office/drawing/2014/main" id="{9E40D515-6159-4531-9B48-E3886A61227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COMPARISON AND IDENTITY</a:t>
            </a:r>
          </a:p>
        </p:txBody>
      </p:sp>
      <p:sp>
        <p:nvSpPr>
          <p:cNvPr id="5" name="Which product, program revision, tester, site, interface and temp">
            <a:extLst>
              <a:ext uri="{FF2B5EF4-FFF2-40B4-BE49-F238E27FC236}">
                <a16:creationId xmlns:a16="http://schemas.microsoft.com/office/drawing/2014/main" id="{7C00F74C-12A1-4A91-BD1B-703DCC766AEA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51625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Which product, program revision, tester, site, interface and temperature details must match?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How do we link a retest to the same device?</a:t>
            </a:r>
          </a:p>
        </p:txBody>
      </p:sp>
      <p:sp>
        <p:nvSpPr>
          <p:cNvPr id="6" name="DIAGNOSIS AND CONFIRMATION">
            <a:extLst>
              <a:ext uri="{FF2B5EF4-FFF2-40B4-BE49-F238E27FC236}">
                <a16:creationId xmlns:a16="http://schemas.microsoft.com/office/drawing/2014/main" id="{52477A61-2EF5-4846-9D1E-9DC5D42E8214}"/>
              </a:ext>
            </a:extLst>
          </p:cNvPr>
          <p:cNvSpPr>
            <a:spLocks noGrp="1"/>
          </p:cNvSpPr>
          <p:nvPr/>
        </p:nvSpPr>
        <p:spPr>
          <a:xfrm>
            <a:off x="6486525" y="1438275"/>
            <a:ext cx="5114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DIAGNOSIS AND CONFIRMATION</a:t>
            </a:r>
          </a:p>
        </p:txBody>
      </p:sp>
      <p:sp>
        <p:nvSpPr>
          <p:cNvPr id="7" name="Which checks distinguish contact, fixture, setup and device expla">
            <a:extLst>
              <a:ext uri="{FF2B5EF4-FFF2-40B4-BE49-F238E27FC236}">
                <a16:creationId xmlns:a16="http://schemas.microsoft.com/office/drawing/2014/main" id="{92CB1412-8961-41BD-864A-E2D18B26E622}"/>
              </a:ext>
            </a:extLst>
          </p:cNvPr>
          <p:cNvSpPr>
            <a:spLocks noGrp="1"/>
          </p:cNvSpPr>
          <p:nvPr/>
        </p:nvSpPr>
        <p:spPr>
          <a:xfrm>
            <a:off x="6486525" y="1838325"/>
            <a:ext cx="5114925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Which checks distinguish contact, fixture, setup and device explanations?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What evidence would justify a confirmed cause?</a:t>
            </a:r>
          </a:p>
        </p:txBody>
      </p:sp>
      <p:sp>
        <p:nvSpPr>
          <p:cNvPr id="8" name="EXAMPLE REVIEW">
            <a:extLst>
              <a:ext uri="{FF2B5EF4-FFF2-40B4-BE49-F238E27FC236}">
                <a16:creationId xmlns:a16="http://schemas.microsoft.com/office/drawing/2014/main" id="{B3C6959C-B338-4191-A37E-00DFE434D016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EXAMPLE REVIEW</a:t>
            </a:r>
          </a:p>
        </p:txBody>
      </p:sp>
      <p:sp>
        <p:nvSpPr>
          <p:cNvPr id="9" name="Are these synthetic steps and outcomes plausible?&#10;How should we d">
            <a:extLst>
              <a:ext uri="{FF2B5EF4-FFF2-40B4-BE49-F238E27FC236}">
                <a16:creationId xmlns:a16="http://schemas.microsoft.com/office/drawing/2014/main" id="{C7749F8A-6A38-4893-89C9-EEF352F8699F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516255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Are these synthetic steps and outcomes plausible?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How should we describe a targeted pass, full-run pass or contradictory evidence?</a:t>
            </a:r>
          </a:p>
        </p:txBody>
      </p:sp>
      <p:sp>
        <p:nvSpPr>
          <p:cNvPr id="10" name="NEXT DATA">
            <a:extLst>
              <a:ext uri="{FF2B5EF4-FFF2-40B4-BE49-F238E27FC236}">
                <a16:creationId xmlns:a16="http://schemas.microsoft.com/office/drawing/2014/main" id="{279E1696-1CA1-4E9B-B5F9-89B41ED4CACA}"/>
              </a:ext>
            </a:extLst>
          </p:cNvPr>
          <p:cNvSpPr>
            <a:spLocks noGrp="1"/>
          </p:cNvSpPr>
          <p:nvPr/>
        </p:nvSpPr>
        <p:spPr>
          <a:xfrm>
            <a:off x="6486525" y="3867150"/>
            <a:ext cx="5114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NEXT DATA</a:t>
            </a:r>
          </a:p>
        </p:txBody>
      </p:sp>
      <p:sp>
        <p:nvSpPr>
          <p:cNvPr id="11" name="Can we walk through one real failure together?&#10;What authorized, a">
            <a:extLst>
              <a:ext uri="{FF2B5EF4-FFF2-40B4-BE49-F238E27FC236}">
                <a16:creationId xmlns:a16="http://schemas.microsoft.com/office/drawing/2014/main" id="{05D29EEA-5ACE-469E-B94E-187F3CBFB4EA}"/>
              </a:ext>
            </a:extLst>
          </p:cNvPr>
          <p:cNvSpPr>
            <a:spLocks noGrp="1"/>
          </p:cNvSpPr>
          <p:nvPr/>
        </p:nvSpPr>
        <p:spPr>
          <a:xfrm>
            <a:off x="6486525" y="4276725"/>
            <a:ext cx="5114925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Can we walk through one real failure together?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54A"/>
                </a:solidFill>
                <a:latin typeface="Arial"/>
                <a:ea typeface="Arial"/>
                <a:cs typeface="Arial"/>
              </a:rPr>
              <a:t>What authorized, anonymized case material could support evaluation?</a:t>
            </a:r>
          </a:p>
        </p:txBody>
      </p:sp>
    </p:spTree>
    <p:extLst>
      <p:ext uri="{BB962C8B-B14F-4D97-AF65-F5344CB8AC3E}">
        <p14:creationId xmlns:p14="http://schemas.microsoft.com/office/powerpoint/2010/main" val="1010458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ppendix A: Evidence Fields and Source References">
            <a:extLst>
              <a:ext uri="{FF2B5EF4-FFF2-40B4-BE49-F238E27FC236}">
                <a16:creationId xmlns:a16="http://schemas.microsoft.com/office/drawing/2014/main" id="{4A535317-7B99-4236-9A13-27B23038D8A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Appendix A: Evidence Fields and Source References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F2EBA03E-0EAE-4360-9481-15B34A2E2A25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09600" y="1457325"/>
          <a:ext cx="10953750" cy="3362328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3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preserves</a:t>
                      </a:r>
                    </a:p>
                  </a:txBody>
                  <a:tcPr marL="114300" marR="114300" marT="57150" marB="57150" anchor="ctr"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Incident and evidence ID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Which case and record this belongs to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Device key and identity match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Whether the record identifies the incident device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Stage and origin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Failure, investigation, action or retest; real or simulated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Source file, hash and line range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Where the text came from and whether the file changed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Context and evidence links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A"/>
                          </a:solidFill>
                          <a:latin typeface="Arial"/>
                          <a:ea typeface="Arial"/>
                          <a:cs typeface="Arial"/>
                        </a:rPr>
                        <a:t>The parent run, scope and related records</a:t>
                      </a:r>
                    </a:p>
                  </a:txBody>
                  <a:tcPr marL="114300" marR="114300" marT="57150" marB="57150" anchor="ctr"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xample: case 001, test 100, AMSDSM pin 40&#10;Original tester log: l">
            <a:extLst>
              <a:ext uri="{FF2B5EF4-FFF2-40B4-BE49-F238E27FC236}">
                <a16:creationId xmlns:a16="http://schemas.microsoft.com/office/drawing/2014/main" id="{EF3C8A7B-FE5C-4DA8-AFC2-402B5CA60737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0375C"/>
                </a:solidFill>
                <a:latin typeface="Arial"/>
                <a:ea typeface="Arial"/>
                <a:cs typeface="Arial"/>
              </a:rPr>
              <a:t>Example: case 001, test 100, AMSDSM pin 40</a:t>
            </a:r>
          </a:p>
          <a:p>
            <a:pPr algn="l">
              <a:defRPr sz="21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0375C"/>
                </a:solidFill>
                <a:latin typeface="Arial"/>
                <a:ea typeface="Arial"/>
                <a:cs typeface="Arial"/>
              </a:rPr>
              <a:t>Original tester log: lines 12704–12706</a:t>
            </a:r>
          </a:p>
        </p:txBody>
      </p:sp>
      <p:sp>
        <p:nvSpPr>
          <p:cNvPr id="5" name="The simulated investigation has a different citation: its own JSO">
            <a:extLst>
              <a:ext uri="{FF2B5EF4-FFF2-40B4-BE49-F238E27FC236}">
                <a16:creationId xmlns:a16="http://schemas.microsoft.com/office/drawing/2014/main" id="{C4150EB7-8243-4020-AC24-A0F89BB69CED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endParaRPr sz="1725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900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ppendix B: References, Limits and Acceptance Targets">
            <a:extLst>
              <a:ext uri="{FF2B5EF4-FFF2-40B4-BE49-F238E27FC236}">
                <a16:creationId xmlns:a16="http://schemas.microsoft.com/office/drawing/2014/main" id="{36D77D41-A20F-4381-9E1C-6AC5BEC418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0375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375C"/>
                </a:solidFill>
                <a:latin typeface="Arial"/>
                <a:ea typeface="Arial"/>
                <a:cs typeface="Arial"/>
              </a:rPr>
              <a:t>Appendix B: References, Limits and Acceptance Targets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CE5C3CD9-4961-489E-BE63-F31B151C943F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28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REPOSITORY REFERENCES">
            <a:extLst>
              <a:ext uri="{FF2B5EF4-FFF2-40B4-BE49-F238E27FC236}">
                <a16:creationId xmlns:a16="http://schemas.microsoft.com/office/drawing/2014/main" id="{B2C6005A-6B7B-46CB-8612-7278D04CB8C5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REPOSITORY REFERENCES</a:t>
            </a:r>
          </a:p>
        </p:txBody>
      </p:sp>
      <p:sp>
        <p:nvSpPr>
          <p:cNvPr id="4" name="Code: src/ingest.py, tests/test_ingest.py&#10;Design: docs/block2_chu">
            <a:extLst>
              <a:ext uri="{FF2B5EF4-FFF2-40B4-BE49-F238E27FC236}">
                <a16:creationId xmlns:a16="http://schemas.microsoft.com/office/drawing/2014/main" id="{DE3382AF-ED7C-4281-8780-C883418A743A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23875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Code: </a:t>
            </a:r>
            <a:r>
              <a:rPr sz="1800" b="0" dirty="0" err="1">
                <a:solidFill>
                  <a:srgbClr val="18354A"/>
                </a:solidFill>
                <a:latin typeface="Arial"/>
                <a:ea typeface="Arial"/>
                <a:cs typeface="Arial"/>
              </a:rPr>
              <a:t>src</a:t>
            </a: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/ingest.py, tests/test_ingest.py</a:t>
            </a:r>
          </a:p>
          <a:p>
            <a:pPr algn="l">
              <a:defRPr sz="18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Design: docs/block2_chunking.md</a:t>
            </a:r>
          </a:p>
          <a:p>
            <a:pPr algn="l">
              <a:defRPr sz="18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Inputs: </a:t>
            </a:r>
            <a:r>
              <a:rPr sz="1800" b="0" dirty="0" err="1">
                <a:solidFill>
                  <a:srgbClr val="18354A"/>
                </a:solidFill>
                <a:latin typeface="Arial"/>
                <a:ea typeface="Arial"/>
                <a:cs typeface="Arial"/>
              </a:rPr>
              <a:t>syn_data</a:t>
            </a: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/splits/</a:t>
            </a:r>
            <a:r>
              <a:rPr sz="1800" b="0" dirty="0" err="1">
                <a:solidFill>
                  <a:srgbClr val="18354A"/>
                </a:solidFill>
                <a:latin typeface="Arial"/>
                <a:ea typeface="Arial"/>
                <a:cs typeface="Arial"/>
              </a:rPr>
              <a:t>first_demo.json</a:t>
            </a:r>
            <a:endParaRPr sz="1800" b="0" dirty="0">
              <a:solidFill>
                <a:srgbClr val="18354A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Provenance: </a:t>
            </a:r>
            <a:r>
              <a:rPr sz="1800" b="0" dirty="0" err="1">
                <a:solidFill>
                  <a:srgbClr val="18354A"/>
                </a:solidFill>
                <a:latin typeface="Arial"/>
                <a:ea typeface="Arial"/>
                <a:cs typeface="Arial"/>
              </a:rPr>
              <a:t>syn_data</a:t>
            </a:r>
            <a:r>
              <a:rPr sz="180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/source/</a:t>
            </a:r>
            <a:r>
              <a:rPr sz="1800" b="0" dirty="0" err="1">
                <a:solidFill>
                  <a:srgbClr val="18354A"/>
                </a:solidFill>
                <a:latin typeface="Arial"/>
                <a:ea typeface="Arial"/>
                <a:cs typeface="Arial"/>
              </a:rPr>
              <a:t>source_manifest.json</a:t>
            </a:r>
            <a:endParaRPr sz="1800" b="0" dirty="0">
              <a:solidFill>
                <a:srgbClr val="1835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ATA LIMITATIONS">
            <a:extLst>
              <a:ext uri="{FF2B5EF4-FFF2-40B4-BE49-F238E27FC236}">
                <a16:creationId xmlns:a16="http://schemas.microsoft.com/office/drawing/2014/main" id="{9B49E4EE-A747-400D-B28C-4E1709039B7F}"/>
              </a:ext>
            </a:extLst>
          </p:cNvPr>
          <p:cNvSpPr>
            <a:spLocks noGrp="1"/>
          </p:cNvSpPr>
          <p:nvPr/>
        </p:nvSpPr>
        <p:spPr>
          <a:xfrm>
            <a:off x="6477000" y="14573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66B3"/>
                </a:solidFill>
                <a:latin typeface="Arial"/>
                <a:ea typeface="Arial"/>
                <a:cs typeface="Arial"/>
              </a:rPr>
              <a:t>DATA LIMITATIONS</a:t>
            </a:r>
          </a:p>
        </p:txBody>
      </p:sp>
      <p:sp>
        <p:nvSpPr>
          <p:cNvPr id="6" name="Six histories, five source failures&#10;Authored current case 007&#10;Syn">
            <a:extLst>
              <a:ext uri="{FF2B5EF4-FFF2-40B4-BE49-F238E27FC236}">
                <a16:creationId xmlns:a16="http://schemas.microsoft.com/office/drawing/2014/main" id="{A1C1A829-955C-4A00-98D1-AF0D9370CCFE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5000625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Six histories, five source failures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Authored current case 007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Synthetic follow-up events</a:t>
            </a:r>
          </a:p>
          <a:p>
            <a:pPr algn="l">
              <a:defRPr sz="1950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Engineer review pending</a:t>
            </a:r>
          </a:p>
        </p:txBody>
      </p:sp>
      <p:sp>
        <p:nvSpPr>
          <p:cNvPr id="7" name="PROPOSED ACCEPTANCE TARGETS">
            <a:extLst>
              <a:ext uri="{FF2B5EF4-FFF2-40B4-BE49-F238E27FC236}">
                <a16:creationId xmlns:a16="http://schemas.microsoft.com/office/drawing/2014/main" id="{165F90A6-5B2B-431C-8B6E-2EA8284779B2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66B3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66B3"/>
                </a:solidFill>
                <a:latin typeface="Arial"/>
                <a:ea typeface="Arial"/>
                <a:cs typeface="Arial"/>
              </a:rPr>
              <a:t>PROPOSED ACCEPTANCE TARGETS</a:t>
            </a:r>
          </a:p>
        </p:txBody>
      </p:sp>
      <p:sp>
        <p:nvSpPr>
          <p:cNvPr id="8" name="Preserve identity, origin and exact source citations.&#10;Keep histor">
            <a:extLst>
              <a:ext uri="{FF2B5EF4-FFF2-40B4-BE49-F238E27FC236}">
                <a16:creationId xmlns:a16="http://schemas.microsoft.com/office/drawing/2014/main" id="{6C1AF701-B450-4690-8C2C-6C021E86B6F4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1095375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Preserve identity, origin and exact source citations.</a:t>
            </a:r>
          </a:p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Keep history, current evidence and answer keys separated.</a:t>
            </a:r>
          </a:p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Agree a cause/uncertainty rubric and independent case coverage.</a:t>
            </a:r>
          </a:p>
          <a:p>
            <a:pPr algn="l">
              <a:defRPr sz="2025" b="0">
                <a:solidFill>
                  <a:srgbClr val="18354A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8354A"/>
                </a:solidFill>
                <a:latin typeface="Arial"/>
                <a:ea typeface="Arial"/>
                <a:cs typeface="Arial"/>
              </a:rPr>
              <a:t>Reproduce offline runs and report quality, latency, power and energy.</a:t>
            </a:r>
          </a:p>
        </p:txBody>
      </p:sp>
      <p:sp>
        <p:nvSpPr>
          <p:cNvPr id="9" name="Full source links are in the speaker notes. Accuracy thresholds r">
            <a:extLst>
              <a:ext uri="{FF2B5EF4-FFF2-40B4-BE49-F238E27FC236}">
                <a16:creationId xmlns:a16="http://schemas.microsoft.com/office/drawing/2014/main" id="{F12BBBB3-2769-4B6D-AEC6-CEE438F62CD3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526779"/>
                </a:solidFill>
                <a:latin typeface="Arial"/>
                <a:ea typeface="Arial"/>
                <a:cs typeface="Arial"/>
                <a:hlinkClick r:id="rId3"/>
              </a:rPr>
              <a:t>GitHub</a:t>
            </a:r>
            <a:r>
              <a:rPr lang="en-US" sz="1650" dirty="0">
                <a:solidFill>
                  <a:srgbClr val="526779"/>
                </a:solidFill>
                <a:latin typeface="Arial"/>
                <a:ea typeface="Arial"/>
                <a:cs typeface="Arial"/>
              </a:rPr>
              <a:t> Dive Deep!</a:t>
            </a:r>
            <a:endParaRPr sz="1650" b="0" dirty="0">
              <a:solidFill>
                <a:srgbClr val="52677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04901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1335</Words>
  <Application>Microsoft Office PowerPoint</Application>
  <DocSecurity>0</DocSecurity>
  <PresentationFormat>Widescreen</PresentationFormat>
  <Paragraphs>277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ARUMUGAM KAYMAN SRINIVASAN</cp:lastModifiedBy>
  <cp:revision>4</cp:revision>
  <dcterms:created xsi:type="dcterms:W3CDTF">2026-09-22T04:46:40Z</dcterms:created>
  <dcterms:modified xsi:type="dcterms:W3CDTF">2026-09-22T09:59:02Z</dcterms:modified>
</cp:coreProperties>
</file>